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9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 marL="790575" indent="-333375">
              <a:defRPr sz="2800"/>
            </a:lvl2pPr>
            <a:lvl3pPr marL="1234438" indent="-320038">
              <a:defRPr sz="2800"/>
            </a:lvl3pPr>
            <a:lvl4pPr marL="1727200" indent="-355600">
              <a:defRPr sz="2800"/>
            </a:lvl4pPr>
            <a:lvl5pPr marL="2184400" indent="-355600"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0">
              <a:buSzTx/>
              <a:buFontTx/>
              <a:buNone/>
              <a:defRPr b="1" sz="2400"/>
            </a:lvl2pPr>
            <a:lvl3pPr marL="0" indent="0">
              <a:buSzTx/>
              <a:buFontTx/>
              <a:buNone/>
              <a:defRPr b="1" sz="2400"/>
            </a:lvl3pPr>
            <a:lvl4pPr marL="0" indent="0">
              <a:buSzTx/>
              <a:buFontTx/>
              <a:buNone/>
              <a:defRPr b="1" sz="2400"/>
            </a:lvl4pPr>
            <a:lvl5pPr marL="0" indent="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6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6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3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quarter" idx="21"/>
          </p:nvPr>
        </p:nvSpPr>
        <p:spPr>
          <a:xfrm>
            <a:off x="1792288" y="612775"/>
            <a:ext cx="5486403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3" cy="804865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400"/>
            </a:lvl1pPr>
            <a:lvl2pPr marL="0" indent="0">
              <a:buSzTx/>
              <a:buFontTx/>
              <a:buNone/>
              <a:defRPr sz="1400"/>
            </a:lvl2pPr>
            <a:lvl3pPr marL="0" indent="0">
              <a:buSzTx/>
              <a:buFontTx/>
              <a:buNone/>
              <a:defRPr sz="1400"/>
            </a:lvl3pPr>
            <a:lvl4pPr marL="0" indent="0">
              <a:buSzTx/>
              <a:buFontTx/>
              <a:buNone/>
              <a:defRPr sz="1400"/>
            </a:lvl4pPr>
            <a:lvl5pPr marL="0" indent="0"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0207625" y="3657600"/>
            <a:ext cx="7162800" cy="662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11"/>
          <p:cNvSpPr/>
          <p:nvPr/>
        </p:nvSpPr>
        <p:spPr>
          <a:xfrm>
            <a:off x="11762088" y="-9632634"/>
            <a:ext cx="10994429" cy="10994429"/>
          </a:xfrm>
          <a:prstGeom prst="ellipse">
            <a:avLst/>
          </a:prstGeom>
          <a:ln w="514350" cap="sq">
            <a:solidFill>
              <a:srgbClr val="FD6220">
                <a:alpha val="11765"/>
              </a:srgbClr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5" name="Freeform 20"/>
          <p:cNvSpPr/>
          <p:nvPr/>
        </p:nvSpPr>
        <p:spPr>
          <a:xfrm>
            <a:off x="-9965725" y="-1383137"/>
            <a:ext cx="10994426" cy="10994426"/>
          </a:xfrm>
          <a:prstGeom prst="ellipse">
            <a:avLst/>
          </a:prstGeom>
          <a:ln w="514350" cap="sq">
            <a:solidFill>
              <a:srgbClr val="FD6220">
                <a:alpha val="11765"/>
              </a:srgbClr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96" name="Picture 22" descr="Picture 2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10443" y="196687"/>
            <a:ext cx="4752248" cy="1360615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Box 23"/>
          <p:cNvSpPr txBox="1"/>
          <p:nvPr/>
        </p:nvSpPr>
        <p:spPr>
          <a:xfrm>
            <a:off x="1405721" y="1608480"/>
            <a:ext cx="15834361" cy="1564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sz="3200">
                <a:latin typeface="Cambria"/>
                <a:ea typeface="Cambria"/>
                <a:cs typeface="Cambria"/>
                <a:sym typeface="Cambria"/>
              </a:defRPr>
            </a:pPr>
            <a:r>
              <a:t>Vel Tech Rangarajan Dr. Sagunthala R&amp;D Institute of Science and Technology</a:t>
            </a:r>
          </a:p>
          <a:p>
            <a:pPr algn="ctr">
              <a:defRPr sz="3600">
                <a:latin typeface="Cambria"/>
                <a:ea typeface="Cambria"/>
                <a:cs typeface="Cambria"/>
                <a:sym typeface="Cambria"/>
              </a:defRPr>
            </a:pPr>
            <a:r>
              <a:t>School of Computing </a:t>
            </a:r>
          </a:p>
          <a:p>
            <a:pPr algn="ctr">
              <a:defRPr sz="3200">
                <a:latin typeface="Cambria"/>
                <a:ea typeface="Cambria"/>
                <a:cs typeface="Cambria"/>
                <a:sym typeface="Cambria"/>
              </a:defRPr>
            </a:pPr>
            <a:r>
              <a:t>Department of Computer Science and Engineering</a:t>
            </a:r>
          </a:p>
        </p:txBody>
      </p:sp>
      <p:sp>
        <p:nvSpPr>
          <p:cNvPr id="98" name="TextBox 25"/>
          <p:cNvSpPr txBox="1"/>
          <p:nvPr/>
        </p:nvSpPr>
        <p:spPr>
          <a:xfrm>
            <a:off x="1738553" y="3272356"/>
            <a:ext cx="15168699" cy="497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2800">
                <a:solidFill>
                  <a:srgbClr val="0033CC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</a:lstStyle>
          <a:p>
            <a:pPr/>
            <a:r>
              <a:t>10211CS224 / FULL STACK APPLICATION DEVELOPMENT (JAVA)</a:t>
            </a:r>
          </a:p>
        </p:txBody>
      </p:sp>
      <p:sp>
        <p:nvSpPr>
          <p:cNvPr id="99" name="TextBox 26"/>
          <p:cNvSpPr txBox="1"/>
          <p:nvPr/>
        </p:nvSpPr>
        <p:spPr>
          <a:xfrm>
            <a:off x="3773474" y="3897938"/>
            <a:ext cx="11105333" cy="16766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b="1" sz="36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PROJECT REVIEW : MILESTONE PROJECT – 1</a:t>
            </a:r>
          </a:p>
          <a:p>
            <a:pPr algn="ctr">
              <a:defRPr b="1" sz="36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defRPr b="1" sz="36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Date: 02-03-2026</a:t>
            </a:r>
          </a:p>
        </p:txBody>
      </p:sp>
      <p:sp>
        <p:nvSpPr>
          <p:cNvPr id="100" name="TextBox 12"/>
          <p:cNvSpPr txBox="1"/>
          <p:nvPr/>
        </p:nvSpPr>
        <p:spPr>
          <a:xfrm>
            <a:off x="1547358" y="6057900"/>
            <a:ext cx="15694523" cy="764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Relational Inventory Control &amp; Stock Tracking System</a:t>
            </a:r>
          </a:p>
        </p:txBody>
      </p:sp>
      <p:sp>
        <p:nvSpPr>
          <p:cNvPr id="101" name="TextBox 13"/>
          <p:cNvSpPr txBox="1"/>
          <p:nvPr/>
        </p:nvSpPr>
        <p:spPr>
          <a:xfrm>
            <a:off x="939588" y="7800537"/>
            <a:ext cx="8981039" cy="1898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ts val="3600"/>
              </a:lnSpc>
              <a:defRPr sz="3000">
                <a:latin typeface="Cambria"/>
                <a:ea typeface="Cambria"/>
                <a:cs typeface="Cambria"/>
                <a:sym typeface="Cambria"/>
              </a:defRPr>
            </a:pPr>
            <a:r>
              <a:t>Presented By:</a:t>
            </a:r>
            <a:br/>
            <a:r>
              <a:rPr b="1" spc="-14" sz="2400">
                <a:latin typeface="Caladea"/>
                <a:ea typeface="Caladea"/>
                <a:cs typeface="Caladea"/>
                <a:sym typeface="Caladea"/>
              </a:rPr>
              <a:t>SANGA CHANDU  </a:t>
            </a:r>
            <a:br>
              <a:rPr b="1" spc="-14" sz="2400">
                <a:latin typeface="Caladea"/>
                <a:ea typeface="Caladea"/>
                <a:cs typeface="Caladea"/>
                <a:sym typeface="Caladea"/>
              </a:rPr>
            </a:br>
            <a:r>
              <a:rPr b="1" spc="-14" sz="2400">
                <a:latin typeface="Caladea"/>
                <a:ea typeface="Caladea"/>
                <a:cs typeface="Caladea"/>
                <a:sym typeface="Caladea"/>
              </a:rPr>
              <a:t>VTU27286</a:t>
            </a:r>
            <a:br>
              <a:rPr b="1" spc="-14" sz="2400">
                <a:latin typeface="Caladea"/>
                <a:ea typeface="Caladea"/>
                <a:cs typeface="Caladea"/>
                <a:sym typeface="Caladea"/>
              </a:rPr>
            </a:br>
            <a:r>
              <a:rPr b="1" spc="-14" sz="2400">
                <a:latin typeface="Caladea"/>
                <a:ea typeface="Caladea"/>
                <a:cs typeface="Caladea"/>
                <a:sym typeface="Caladea"/>
              </a:rPr>
              <a:t>Reg.No.</a:t>
            </a:r>
            <a:r>
              <a:rPr b="1" spc="-14" sz="2400">
                <a:latin typeface="Times New Roman"/>
                <a:ea typeface="Times New Roman"/>
                <a:cs typeface="Times New Roman"/>
                <a:sym typeface="Times New Roman"/>
              </a:rPr>
              <a:t>23UECS0505</a:t>
            </a:r>
          </a:p>
        </p:txBody>
      </p:sp>
      <p:sp>
        <p:nvSpPr>
          <p:cNvPr id="102" name="TextBox 14"/>
          <p:cNvSpPr txBox="1"/>
          <p:nvPr/>
        </p:nvSpPr>
        <p:spPr>
          <a:xfrm>
            <a:off x="10990753" y="7818584"/>
            <a:ext cx="6825324" cy="1234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50000"/>
              </a:lnSpc>
              <a:defRPr sz="3000">
                <a:latin typeface="Cambria"/>
                <a:ea typeface="Cambria"/>
                <a:cs typeface="Cambria"/>
                <a:sym typeface="Cambria"/>
              </a:defRPr>
            </a:pPr>
            <a:r>
              <a:t>Courses Handling Faculty:</a:t>
            </a:r>
            <a:br/>
            <a:r>
              <a:rPr b="1" spc="-14">
                <a:latin typeface="Caladea"/>
                <a:ea typeface="Caladea"/>
                <a:cs typeface="Caladea"/>
                <a:sym typeface="Caladea"/>
              </a:rPr>
              <a:t>Dr. S. Hemamalini</a:t>
            </a:r>
            <a:r>
              <a:rPr sz="2200">
                <a:latin typeface="Cambria Bold"/>
                <a:ea typeface="Cambria Bold"/>
                <a:cs typeface="Cambria Bold"/>
                <a:sym typeface="Cambria Bold"/>
              </a:rPr>
              <a:t>-M.E., Ph.D.,</a:t>
            </a:r>
          </a:p>
        </p:txBody>
      </p:sp>
      <p:sp>
        <p:nvSpPr>
          <p:cNvPr id="103" name="TextBox 15"/>
          <p:cNvSpPr txBox="1"/>
          <p:nvPr/>
        </p:nvSpPr>
        <p:spPr>
          <a:xfrm>
            <a:off x="1796277" y="7057342"/>
            <a:ext cx="14652453" cy="396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pc="-14" sz="2000">
                <a:latin typeface="Caladea"/>
                <a:ea typeface="Caladea"/>
                <a:cs typeface="Caladea"/>
                <a:sym typeface="Caladea"/>
              </a:defRPr>
            </a:lvl1pPr>
          </a:lstStyle>
          <a:p>
            <a:pPr/>
            <a:r>
              <a:t>SDG: SDG No –9 ( Quality Education)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Freeform 8"/>
          <p:cNvSpPr/>
          <p:nvPr/>
        </p:nvSpPr>
        <p:spPr>
          <a:xfrm>
            <a:off x="16313419" y="910463"/>
            <a:ext cx="945883" cy="236474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grpSp>
        <p:nvGrpSpPr>
          <p:cNvPr id="108" name="Group 9"/>
          <p:cNvGrpSpPr/>
          <p:nvPr/>
        </p:nvGrpSpPr>
        <p:grpSpPr>
          <a:xfrm>
            <a:off x="706081" y="1952200"/>
            <a:ext cx="992469" cy="992471"/>
            <a:chOff x="0" y="0"/>
            <a:chExt cx="992468" cy="992470"/>
          </a:xfrm>
        </p:grpSpPr>
        <p:sp>
          <p:nvSpPr>
            <p:cNvPr id="106" name="Freeform 10"/>
            <p:cNvSpPr/>
            <p:nvPr/>
          </p:nvSpPr>
          <p:spPr>
            <a:xfrm>
              <a:off x="0" y="-1"/>
              <a:ext cx="992469" cy="992472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07" name="TextBox 11"/>
            <p:cNvSpPr txBox="1"/>
            <p:nvPr/>
          </p:nvSpPr>
          <p:spPr>
            <a:xfrm>
              <a:off x="93043" y="183149"/>
              <a:ext cx="806380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111" name="Group 12"/>
          <p:cNvGrpSpPr/>
          <p:nvPr/>
        </p:nvGrpSpPr>
        <p:grpSpPr>
          <a:xfrm>
            <a:off x="948235" y="4447337"/>
            <a:ext cx="508163" cy="543811"/>
            <a:chOff x="0" y="-1"/>
            <a:chExt cx="508162" cy="543810"/>
          </a:xfrm>
        </p:grpSpPr>
        <p:sp>
          <p:nvSpPr>
            <p:cNvPr id="109" name="Freeform 13"/>
            <p:cNvSpPr/>
            <p:nvPr/>
          </p:nvSpPr>
          <p:spPr>
            <a:xfrm>
              <a:off x="-1" y="-2"/>
              <a:ext cx="508163" cy="543811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10" name="TextBox 14"/>
            <p:cNvSpPr txBox="1"/>
            <p:nvPr/>
          </p:nvSpPr>
          <p:spPr>
            <a:xfrm>
              <a:off x="47639" y="70503"/>
              <a:ext cx="412882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114" name="Group 15"/>
          <p:cNvGrpSpPr/>
          <p:nvPr/>
        </p:nvGrpSpPr>
        <p:grpSpPr>
          <a:xfrm>
            <a:off x="948235" y="3107361"/>
            <a:ext cx="508163" cy="543813"/>
            <a:chOff x="0" y="0"/>
            <a:chExt cx="508162" cy="543811"/>
          </a:xfrm>
        </p:grpSpPr>
        <p:sp>
          <p:nvSpPr>
            <p:cNvPr id="112" name="Freeform 16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13" name="TextBox 17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117" name="Group 18"/>
          <p:cNvGrpSpPr/>
          <p:nvPr/>
        </p:nvGrpSpPr>
        <p:grpSpPr>
          <a:xfrm>
            <a:off x="948235" y="5115751"/>
            <a:ext cx="508163" cy="543813"/>
            <a:chOff x="0" y="0"/>
            <a:chExt cx="508162" cy="543811"/>
          </a:xfrm>
        </p:grpSpPr>
        <p:sp>
          <p:nvSpPr>
            <p:cNvPr id="115" name="Freeform 19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16" name="TextBox 20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120" name="Group 21"/>
          <p:cNvGrpSpPr/>
          <p:nvPr/>
        </p:nvGrpSpPr>
        <p:grpSpPr>
          <a:xfrm>
            <a:off x="948235" y="3776485"/>
            <a:ext cx="508163" cy="543813"/>
            <a:chOff x="0" y="0"/>
            <a:chExt cx="508162" cy="543811"/>
          </a:xfrm>
        </p:grpSpPr>
        <p:sp>
          <p:nvSpPr>
            <p:cNvPr id="118" name="Freeform 22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19" name="TextBox 23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123" name="Group 24"/>
          <p:cNvGrpSpPr/>
          <p:nvPr/>
        </p:nvGrpSpPr>
        <p:grpSpPr>
          <a:xfrm>
            <a:off x="948235" y="6455727"/>
            <a:ext cx="508163" cy="543813"/>
            <a:chOff x="0" y="0"/>
            <a:chExt cx="508162" cy="543811"/>
          </a:xfrm>
        </p:grpSpPr>
        <p:sp>
          <p:nvSpPr>
            <p:cNvPr id="121" name="Freeform 25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22" name="TextBox 26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126" name="Group 27"/>
          <p:cNvGrpSpPr/>
          <p:nvPr/>
        </p:nvGrpSpPr>
        <p:grpSpPr>
          <a:xfrm>
            <a:off x="948235" y="5784876"/>
            <a:ext cx="508163" cy="543813"/>
            <a:chOff x="0" y="0"/>
            <a:chExt cx="508162" cy="543811"/>
          </a:xfrm>
        </p:grpSpPr>
        <p:sp>
          <p:nvSpPr>
            <p:cNvPr id="124" name="Freeform 28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25" name="TextBox 29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129" name="Group 36"/>
          <p:cNvGrpSpPr/>
          <p:nvPr/>
        </p:nvGrpSpPr>
        <p:grpSpPr>
          <a:xfrm>
            <a:off x="948235" y="7123360"/>
            <a:ext cx="508163" cy="543813"/>
            <a:chOff x="0" y="0"/>
            <a:chExt cx="508162" cy="543811"/>
          </a:xfrm>
        </p:grpSpPr>
        <p:sp>
          <p:nvSpPr>
            <p:cNvPr id="127" name="Freeform 37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28" name="TextBox 38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132" name="Group 39"/>
          <p:cNvGrpSpPr/>
          <p:nvPr/>
        </p:nvGrpSpPr>
        <p:grpSpPr>
          <a:xfrm>
            <a:off x="948235" y="7790990"/>
            <a:ext cx="508163" cy="543813"/>
            <a:chOff x="0" y="0"/>
            <a:chExt cx="508162" cy="543811"/>
          </a:xfrm>
        </p:grpSpPr>
        <p:sp>
          <p:nvSpPr>
            <p:cNvPr id="130" name="Freeform 40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31" name="TextBox 41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133" name="TextBox 1"/>
          <p:cNvSpPr txBox="1"/>
          <p:nvPr/>
        </p:nvSpPr>
        <p:spPr>
          <a:xfrm>
            <a:off x="198118" y="342899"/>
            <a:ext cx="18044164" cy="764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INTRODUCTION</a:t>
            </a:r>
          </a:p>
        </p:txBody>
      </p:sp>
      <p:sp>
        <p:nvSpPr>
          <p:cNvPr id="134" name="TextBox 2"/>
          <p:cNvSpPr txBox="1"/>
          <p:nvPr/>
        </p:nvSpPr>
        <p:spPr>
          <a:xfrm>
            <a:off x="1893218" y="3679371"/>
            <a:ext cx="15844892" cy="2874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20000"/>
              </a:lnSpc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➤ A Relational Inventory Control &amp; Stock Tracking System is a software application used to manage product stock efficiently.</a:t>
            </a:r>
            <a:br/>
            <a:r>
              <a:t>➤ It helps businesses track inventory levels, stock movement, and product details in real time.</a:t>
            </a:r>
            <a:br/>
            <a:r>
              <a:t>➤ The system maintains data using a relational database (tables with relationships).</a:t>
            </a:r>
            <a:br/>
            <a:r>
              <a:t>➤ It monitors stock-in, stock-out, supplier, and sales information.</a:t>
            </a:r>
            <a:br/>
            <a:r>
              <a:t>➤ It reduces human errors in manual inventory management.</a:t>
            </a:r>
            <a:br/>
            <a:r>
              <a:t>➤ It provides real-time alerts for low stock levels.</a:t>
            </a:r>
            <a:br/>
            <a:r>
              <a:t>➤ It improves accuracy, efficiency, and decision-making.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Freeform 10"/>
          <p:cNvSpPr/>
          <p:nvPr/>
        </p:nvSpPr>
        <p:spPr>
          <a:xfrm>
            <a:off x="16313419" y="910463"/>
            <a:ext cx="945883" cy="236474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grpSp>
        <p:nvGrpSpPr>
          <p:cNvPr id="139" name="Group 11"/>
          <p:cNvGrpSpPr/>
          <p:nvPr/>
        </p:nvGrpSpPr>
        <p:grpSpPr>
          <a:xfrm>
            <a:off x="709355" y="2648110"/>
            <a:ext cx="992472" cy="992469"/>
            <a:chOff x="0" y="-1"/>
            <a:chExt cx="992470" cy="992468"/>
          </a:xfrm>
        </p:grpSpPr>
        <p:sp>
          <p:nvSpPr>
            <p:cNvPr id="137" name="Freeform 12"/>
            <p:cNvSpPr/>
            <p:nvPr/>
          </p:nvSpPr>
          <p:spPr>
            <a:xfrm>
              <a:off x="-1" y="-2"/>
              <a:ext cx="992472" cy="992469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38" name="TextBox 13"/>
            <p:cNvSpPr txBox="1"/>
            <p:nvPr/>
          </p:nvSpPr>
          <p:spPr>
            <a:xfrm>
              <a:off x="93043" y="183149"/>
              <a:ext cx="806381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142" name="Group 14"/>
          <p:cNvGrpSpPr/>
          <p:nvPr/>
        </p:nvGrpSpPr>
        <p:grpSpPr>
          <a:xfrm>
            <a:off x="951507" y="4428293"/>
            <a:ext cx="508164" cy="543813"/>
            <a:chOff x="0" y="0"/>
            <a:chExt cx="508162" cy="543811"/>
          </a:xfrm>
        </p:grpSpPr>
        <p:sp>
          <p:nvSpPr>
            <p:cNvPr id="140" name="Freeform 15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41" name="TextBox 16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145" name="Group 17"/>
          <p:cNvGrpSpPr/>
          <p:nvPr/>
        </p:nvGrpSpPr>
        <p:grpSpPr>
          <a:xfrm>
            <a:off x="951507" y="1982346"/>
            <a:ext cx="508164" cy="543812"/>
            <a:chOff x="0" y="0"/>
            <a:chExt cx="508162" cy="543811"/>
          </a:xfrm>
        </p:grpSpPr>
        <p:sp>
          <p:nvSpPr>
            <p:cNvPr id="143" name="Freeform 18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44" name="TextBox 19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148" name="Group 20"/>
          <p:cNvGrpSpPr/>
          <p:nvPr/>
        </p:nvGrpSpPr>
        <p:grpSpPr>
          <a:xfrm>
            <a:off x="951507" y="5094057"/>
            <a:ext cx="508164" cy="543813"/>
            <a:chOff x="0" y="0"/>
            <a:chExt cx="508162" cy="543811"/>
          </a:xfrm>
        </p:grpSpPr>
        <p:sp>
          <p:nvSpPr>
            <p:cNvPr id="146" name="Freeform 21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47" name="TextBox 22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151" name="Group 23"/>
          <p:cNvGrpSpPr/>
          <p:nvPr/>
        </p:nvGrpSpPr>
        <p:grpSpPr>
          <a:xfrm>
            <a:off x="951507" y="3762532"/>
            <a:ext cx="508164" cy="543813"/>
            <a:chOff x="0" y="0"/>
            <a:chExt cx="508162" cy="543811"/>
          </a:xfrm>
        </p:grpSpPr>
        <p:sp>
          <p:nvSpPr>
            <p:cNvPr id="149" name="Freeform 24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50" name="TextBox 25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154" name="Group 26"/>
          <p:cNvGrpSpPr/>
          <p:nvPr/>
        </p:nvGrpSpPr>
        <p:grpSpPr>
          <a:xfrm>
            <a:off x="951507" y="6425583"/>
            <a:ext cx="508164" cy="543813"/>
            <a:chOff x="0" y="0"/>
            <a:chExt cx="508162" cy="543811"/>
          </a:xfrm>
        </p:grpSpPr>
        <p:sp>
          <p:nvSpPr>
            <p:cNvPr id="152" name="Freeform 27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53" name="TextBox 28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157" name="Group 29"/>
          <p:cNvGrpSpPr/>
          <p:nvPr/>
        </p:nvGrpSpPr>
        <p:grpSpPr>
          <a:xfrm>
            <a:off x="951507" y="5759821"/>
            <a:ext cx="508164" cy="543813"/>
            <a:chOff x="0" y="0"/>
            <a:chExt cx="508162" cy="543811"/>
          </a:xfrm>
        </p:grpSpPr>
        <p:sp>
          <p:nvSpPr>
            <p:cNvPr id="155" name="Freeform 30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56" name="TextBox 31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160" name="Group 36"/>
          <p:cNvGrpSpPr/>
          <p:nvPr/>
        </p:nvGrpSpPr>
        <p:grpSpPr>
          <a:xfrm>
            <a:off x="951507" y="7093214"/>
            <a:ext cx="508164" cy="543813"/>
            <a:chOff x="0" y="0"/>
            <a:chExt cx="508162" cy="543811"/>
          </a:xfrm>
        </p:grpSpPr>
        <p:sp>
          <p:nvSpPr>
            <p:cNvPr id="158" name="Freeform 37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59" name="TextBox 38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163" name="Group 39"/>
          <p:cNvGrpSpPr/>
          <p:nvPr/>
        </p:nvGrpSpPr>
        <p:grpSpPr>
          <a:xfrm>
            <a:off x="951507" y="7760843"/>
            <a:ext cx="508164" cy="543813"/>
            <a:chOff x="0" y="0"/>
            <a:chExt cx="508162" cy="543811"/>
          </a:xfrm>
        </p:grpSpPr>
        <p:sp>
          <p:nvSpPr>
            <p:cNvPr id="161" name="Freeform 40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62" name="TextBox 41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164" name="TextBox 46"/>
          <p:cNvSpPr txBox="1"/>
          <p:nvPr/>
        </p:nvSpPr>
        <p:spPr>
          <a:xfrm>
            <a:off x="198118" y="342899"/>
            <a:ext cx="17815564" cy="764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PROBLEM STATEMENT</a:t>
            </a:r>
          </a:p>
        </p:txBody>
      </p:sp>
      <p:sp>
        <p:nvSpPr>
          <p:cNvPr id="165" name="TextBox 47"/>
          <p:cNvSpPr txBox="1"/>
          <p:nvPr/>
        </p:nvSpPr>
        <p:spPr>
          <a:xfrm>
            <a:off x="2068419" y="3169104"/>
            <a:ext cx="14992689" cy="3639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20000"/>
              </a:lnSpc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➤ Many businesses manage inventory manually using Excel or paper records.</a:t>
            </a:r>
            <a:br/>
            <a:r>
              <a:t>➤ Manual tracking leads to stock miscalculations and data loss.</a:t>
            </a:r>
            <a:br/>
            <a:r>
              <a:t>➤ No real-time stock visibility.</a:t>
            </a:r>
            <a:br/>
            <a:r>
              <a:t>➤ Overstocking increases storage cost.</a:t>
            </a:r>
            <a:br/>
            <a:r>
              <a:t>➤ Understocking leads to customer dissatisfaction.</a:t>
            </a:r>
            <a:br/>
            <a:r>
              <a:t>➤ Difficult to track supplier and sales history.</a:t>
            </a:r>
            <a:br/>
            <a:r>
              <a:t>➤ Lack of reporting and analytics for business decisions.</a:t>
            </a:r>
          </a:p>
          <a:p>
            <a:pPr>
              <a:lnSpc>
                <a:spcPct val="120000"/>
              </a:lnSpc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➤ Therefore, an automated relational inventory system is required.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roup 7"/>
          <p:cNvGrpSpPr/>
          <p:nvPr/>
        </p:nvGrpSpPr>
        <p:grpSpPr>
          <a:xfrm>
            <a:off x="709355" y="3315742"/>
            <a:ext cx="992472" cy="992471"/>
            <a:chOff x="0" y="0"/>
            <a:chExt cx="992470" cy="992470"/>
          </a:xfrm>
        </p:grpSpPr>
        <p:sp>
          <p:nvSpPr>
            <p:cNvPr id="167" name="Freeform 8"/>
            <p:cNvSpPr/>
            <p:nvPr/>
          </p:nvSpPr>
          <p:spPr>
            <a:xfrm>
              <a:off x="-1" y="-1"/>
              <a:ext cx="992472" cy="992472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68" name="TextBox 9"/>
            <p:cNvSpPr txBox="1"/>
            <p:nvPr/>
          </p:nvSpPr>
          <p:spPr>
            <a:xfrm>
              <a:off x="93043" y="183149"/>
              <a:ext cx="806381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172" name="Group 10"/>
          <p:cNvGrpSpPr/>
          <p:nvPr/>
        </p:nvGrpSpPr>
        <p:grpSpPr>
          <a:xfrm>
            <a:off x="951507" y="4428293"/>
            <a:ext cx="508164" cy="543813"/>
            <a:chOff x="0" y="0"/>
            <a:chExt cx="508162" cy="543811"/>
          </a:xfrm>
        </p:grpSpPr>
        <p:sp>
          <p:nvSpPr>
            <p:cNvPr id="170" name="Freeform 11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71" name="TextBox 12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175" name="Group 13"/>
          <p:cNvGrpSpPr/>
          <p:nvPr/>
        </p:nvGrpSpPr>
        <p:grpSpPr>
          <a:xfrm>
            <a:off x="951507" y="1982346"/>
            <a:ext cx="508164" cy="543812"/>
            <a:chOff x="0" y="0"/>
            <a:chExt cx="508162" cy="543811"/>
          </a:xfrm>
        </p:grpSpPr>
        <p:sp>
          <p:nvSpPr>
            <p:cNvPr id="173" name="Freeform 14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74" name="TextBox 15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178" name="Group 16"/>
          <p:cNvGrpSpPr/>
          <p:nvPr/>
        </p:nvGrpSpPr>
        <p:grpSpPr>
          <a:xfrm>
            <a:off x="951507" y="5094057"/>
            <a:ext cx="508164" cy="543813"/>
            <a:chOff x="0" y="0"/>
            <a:chExt cx="508162" cy="543811"/>
          </a:xfrm>
        </p:grpSpPr>
        <p:sp>
          <p:nvSpPr>
            <p:cNvPr id="176" name="Freeform 17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77" name="TextBox 18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181" name="Group 19"/>
          <p:cNvGrpSpPr/>
          <p:nvPr/>
        </p:nvGrpSpPr>
        <p:grpSpPr>
          <a:xfrm>
            <a:off x="951507" y="2648110"/>
            <a:ext cx="508164" cy="543811"/>
            <a:chOff x="0" y="-1"/>
            <a:chExt cx="508162" cy="543810"/>
          </a:xfrm>
        </p:grpSpPr>
        <p:sp>
          <p:nvSpPr>
            <p:cNvPr id="179" name="Freeform 20"/>
            <p:cNvSpPr/>
            <p:nvPr/>
          </p:nvSpPr>
          <p:spPr>
            <a:xfrm>
              <a:off x="-1" y="-2"/>
              <a:ext cx="508163" cy="543811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80" name="TextBox 21"/>
            <p:cNvSpPr txBox="1"/>
            <p:nvPr/>
          </p:nvSpPr>
          <p:spPr>
            <a:xfrm>
              <a:off x="47639" y="70503"/>
              <a:ext cx="412882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184" name="Group 22"/>
          <p:cNvGrpSpPr/>
          <p:nvPr/>
        </p:nvGrpSpPr>
        <p:grpSpPr>
          <a:xfrm>
            <a:off x="951507" y="6425583"/>
            <a:ext cx="508164" cy="543813"/>
            <a:chOff x="0" y="0"/>
            <a:chExt cx="508162" cy="543811"/>
          </a:xfrm>
        </p:grpSpPr>
        <p:sp>
          <p:nvSpPr>
            <p:cNvPr id="182" name="Freeform 23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83" name="TextBox 24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187" name="Group 25"/>
          <p:cNvGrpSpPr/>
          <p:nvPr/>
        </p:nvGrpSpPr>
        <p:grpSpPr>
          <a:xfrm>
            <a:off x="951507" y="5759821"/>
            <a:ext cx="508164" cy="543813"/>
            <a:chOff x="0" y="0"/>
            <a:chExt cx="508162" cy="543811"/>
          </a:xfrm>
        </p:grpSpPr>
        <p:sp>
          <p:nvSpPr>
            <p:cNvPr id="185" name="Freeform 26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86" name="TextBox 27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190" name="Group 41"/>
          <p:cNvGrpSpPr/>
          <p:nvPr/>
        </p:nvGrpSpPr>
        <p:grpSpPr>
          <a:xfrm>
            <a:off x="951507" y="7093214"/>
            <a:ext cx="508164" cy="543813"/>
            <a:chOff x="0" y="0"/>
            <a:chExt cx="508162" cy="543811"/>
          </a:xfrm>
        </p:grpSpPr>
        <p:sp>
          <p:nvSpPr>
            <p:cNvPr id="188" name="Freeform 42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89" name="TextBox 43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193" name="Group 44"/>
          <p:cNvGrpSpPr/>
          <p:nvPr/>
        </p:nvGrpSpPr>
        <p:grpSpPr>
          <a:xfrm>
            <a:off x="951507" y="7760843"/>
            <a:ext cx="508164" cy="543813"/>
            <a:chOff x="0" y="0"/>
            <a:chExt cx="508162" cy="543811"/>
          </a:xfrm>
        </p:grpSpPr>
        <p:sp>
          <p:nvSpPr>
            <p:cNvPr id="191" name="Freeform 45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92" name="TextBox 46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194" name="TextBox 49"/>
          <p:cNvSpPr txBox="1"/>
          <p:nvPr/>
        </p:nvSpPr>
        <p:spPr>
          <a:xfrm>
            <a:off x="198118" y="342899"/>
            <a:ext cx="17815564" cy="764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OBJECTIVE(S)</a:t>
            </a:r>
          </a:p>
        </p:txBody>
      </p:sp>
      <p:sp>
        <p:nvSpPr>
          <p:cNvPr id="195" name="Freeform 10"/>
          <p:cNvSpPr/>
          <p:nvPr/>
        </p:nvSpPr>
        <p:spPr>
          <a:xfrm>
            <a:off x="16313419" y="910463"/>
            <a:ext cx="945883" cy="236474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96" name="TextBox 51"/>
          <p:cNvSpPr txBox="1"/>
          <p:nvPr/>
        </p:nvSpPr>
        <p:spPr>
          <a:xfrm>
            <a:off x="2220173" y="3373208"/>
            <a:ext cx="14993406" cy="2730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20000"/>
              </a:lnSpc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➤ Centralize inventory data using relational database.</a:t>
            </a:r>
            <a:br/>
            <a:r>
              <a:t>➤ Automate stock tracking and updates.</a:t>
            </a:r>
            <a:br/>
            <a:r>
              <a:t>➤ Reduce manual errors and duplicate entries.</a:t>
            </a:r>
            <a:br/>
            <a:r>
              <a:t>➤ Provide real-time stock availability.</a:t>
            </a:r>
            <a:br/>
            <a:r>
              <a:t>➤ Generate reports for sales and inventory analysis.</a:t>
            </a:r>
            <a:br/>
            <a:r>
              <a:t>➤ Improve operational efficiency and productivity.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roup 13"/>
          <p:cNvGrpSpPr/>
          <p:nvPr/>
        </p:nvGrpSpPr>
        <p:grpSpPr>
          <a:xfrm>
            <a:off x="709355" y="3983373"/>
            <a:ext cx="992472" cy="992471"/>
            <a:chOff x="0" y="0"/>
            <a:chExt cx="992470" cy="992470"/>
          </a:xfrm>
        </p:grpSpPr>
        <p:sp>
          <p:nvSpPr>
            <p:cNvPr id="198" name="Freeform 14"/>
            <p:cNvSpPr/>
            <p:nvPr/>
          </p:nvSpPr>
          <p:spPr>
            <a:xfrm>
              <a:off x="-1" y="-1"/>
              <a:ext cx="992472" cy="992472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99" name="TextBox 15"/>
            <p:cNvSpPr txBox="1"/>
            <p:nvPr/>
          </p:nvSpPr>
          <p:spPr>
            <a:xfrm>
              <a:off x="93043" y="183149"/>
              <a:ext cx="806381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203" name="Group 16"/>
          <p:cNvGrpSpPr/>
          <p:nvPr/>
        </p:nvGrpSpPr>
        <p:grpSpPr>
          <a:xfrm>
            <a:off x="951507" y="3315741"/>
            <a:ext cx="508164" cy="543813"/>
            <a:chOff x="0" y="0"/>
            <a:chExt cx="508162" cy="543811"/>
          </a:xfrm>
        </p:grpSpPr>
        <p:sp>
          <p:nvSpPr>
            <p:cNvPr id="201" name="Freeform 17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02" name="TextBox 18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206" name="Group 19"/>
          <p:cNvGrpSpPr/>
          <p:nvPr/>
        </p:nvGrpSpPr>
        <p:grpSpPr>
          <a:xfrm>
            <a:off x="951507" y="1982346"/>
            <a:ext cx="508164" cy="543812"/>
            <a:chOff x="0" y="0"/>
            <a:chExt cx="508162" cy="543811"/>
          </a:xfrm>
        </p:grpSpPr>
        <p:sp>
          <p:nvSpPr>
            <p:cNvPr id="204" name="Freeform 20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05" name="TextBox 21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209" name="Group 22"/>
          <p:cNvGrpSpPr/>
          <p:nvPr/>
        </p:nvGrpSpPr>
        <p:grpSpPr>
          <a:xfrm>
            <a:off x="951507" y="5094057"/>
            <a:ext cx="508164" cy="543813"/>
            <a:chOff x="0" y="0"/>
            <a:chExt cx="508162" cy="543811"/>
          </a:xfrm>
        </p:grpSpPr>
        <p:sp>
          <p:nvSpPr>
            <p:cNvPr id="207" name="Freeform 23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08" name="TextBox 24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212" name="Group 25"/>
          <p:cNvGrpSpPr/>
          <p:nvPr/>
        </p:nvGrpSpPr>
        <p:grpSpPr>
          <a:xfrm>
            <a:off x="951507" y="2648110"/>
            <a:ext cx="508164" cy="543811"/>
            <a:chOff x="0" y="-1"/>
            <a:chExt cx="508162" cy="543810"/>
          </a:xfrm>
        </p:grpSpPr>
        <p:sp>
          <p:nvSpPr>
            <p:cNvPr id="210" name="Freeform 26"/>
            <p:cNvSpPr/>
            <p:nvPr/>
          </p:nvSpPr>
          <p:spPr>
            <a:xfrm>
              <a:off x="-1" y="-2"/>
              <a:ext cx="508163" cy="543811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11" name="TextBox 27"/>
            <p:cNvSpPr txBox="1"/>
            <p:nvPr/>
          </p:nvSpPr>
          <p:spPr>
            <a:xfrm>
              <a:off x="47639" y="70503"/>
              <a:ext cx="412882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215" name="Group 28"/>
          <p:cNvGrpSpPr/>
          <p:nvPr/>
        </p:nvGrpSpPr>
        <p:grpSpPr>
          <a:xfrm>
            <a:off x="951507" y="6425583"/>
            <a:ext cx="508164" cy="543813"/>
            <a:chOff x="0" y="0"/>
            <a:chExt cx="508162" cy="543811"/>
          </a:xfrm>
        </p:grpSpPr>
        <p:sp>
          <p:nvSpPr>
            <p:cNvPr id="213" name="Freeform 29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14" name="TextBox 30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218" name="Group 31"/>
          <p:cNvGrpSpPr/>
          <p:nvPr/>
        </p:nvGrpSpPr>
        <p:grpSpPr>
          <a:xfrm>
            <a:off x="951507" y="5759821"/>
            <a:ext cx="508164" cy="543813"/>
            <a:chOff x="0" y="0"/>
            <a:chExt cx="508162" cy="543811"/>
          </a:xfrm>
        </p:grpSpPr>
        <p:sp>
          <p:nvSpPr>
            <p:cNvPr id="216" name="Freeform 32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17" name="TextBox 33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221" name="Group 34"/>
          <p:cNvGrpSpPr/>
          <p:nvPr/>
        </p:nvGrpSpPr>
        <p:grpSpPr>
          <a:xfrm>
            <a:off x="951507" y="7093214"/>
            <a:ext cx="508164" cy="543813"/>
            <a:chOff x="0" y="0"/>
            <a:chExt cx="508162" cy="543811"/>
          </a:xfrm>
        </p:grpSpPr>
        <p:sp>
          <p:nvSpPr>
            <p:cNvPr id="219" name="Freeform 35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20" name="TextBox 36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224" name="Group 37"/>
          <p:cNvGrpSpPr/>
          <p:nvPr/>
        </p:nvGrpSpPr>
        <p:grpSpPr>
          <a:xfrm>
            <a:off x="951507" y="7760843"/>
            <a:ext cx="508164" cy="543813"/>
            <a:chOff x="0" y="0"/>
            <a:chExt cx="508162" cy="543811"/>
          </a:xfrm>
        </p:grpSpPr>
        <p:sp>
          <p:nvSpPr>
            <p:cNvPr id="222" name="Freeform 38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23" name="TextBox 39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225" name="Freeform 10"/>
          <p:cNvSpPr/>
          <p:nvPr/>
        </p:nvSpPr>
        <p:spPr>
          <a:xfrm>
            <a:off x="16313419" y="910463"/>
            <a:ext cx="945883" cy="236474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6" name="TextBox 45"/>
          <p:cNvSpPr txBox="1"/>
          <p:nvPr/>
        </p:nvSpPr>
        <p:spPr>
          <a:xfrm>
            <a:off x="198118" y="342899"/>
            <a:ext cx="17815564" cy="764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PROPOSED SYSTEM</a:t>
            </a:r>
          </a:p>
        </p:txBody>
      </p:sp>
      <p:sp>
        <p:nvSpPr>
          <p:cNvPr id="227" name="TextBox 47"/>
          <p:cNvSpPr txBox="1"/>
          <p:nvPr/>
        </p:nvSpPr>
        <p:spPr>
          <a:xfrm>
            <a:off x="2102436" y="3288165"/>
            <a:ext cx="14992689" cy="3184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20000"/>
              </a:lnSpc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➤ Web-based centralized inventory management system.</a:t>
            </a:r>
            <a:br/>
            <a:r>
              <a:t>➤ Stores products, categories, suppliers, and transactions in relational tables.</a:t>
            </a:r>
            <a:br/>
            <a:r>
              <a:t>➤ Automatically updates stock during sales or purchases.</a:t>
            </a:r>
            <a:br/>
            <a:r>
              <a:t>➤ Low stock alert notification system.</a:t>
            </a:r>
            <a:br/>
            <a:r>
              <a:t>➤ Role-based login (Admin / Staff).</a:t>
            </a:r>
            <a:br/>
            <a:r>
              <a:t>➤ Generates real-time reports and analytics.</a:t>
            </a:r>
            <a:br/>
            <a:r>
              <a:t>➤ Secure authentication and authorization system.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roup 5"/>
          <p:cNvGrpSpPr/>
          <p:nvPr/>
        </p:nvGrpSpPr>
        <p:grpSpPr>
          <a:xfrm>
            <a:off x="709355" y="4655765"/>
            <a:ext cx="992472" cy="992471"/>
            <a:chOff x="0" y="0"/>
            <a:chExt cx="992470" cy="992470"/>
          </a:xfrm>
        </p:grpSpPr>
        <p:sp>
          <p:nvSpPr>
            <p:cNvPr id="229" name="Freeform 6"/>
            <p:cNvSpPr/>
            <p:nvPr/>
          </p:nvSpPr>
          <p:spPr>
            <a:xfrm>
              <a:off x="-1" y="-1"/>
              <a:ext cx="992472" cy="992472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30" name="TextBox 7"/>
            <p:cNvSpPr txBox="1"/>
            <p:nvPr/>
          </p:nvSpPr>
          <p:spPr>
            <a:xfrm>
              <a:off x="93043" y="183149"/>
              <a:ext cx="806381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234" name="Group 8"/>
          <p:cNvGrpSpPr/>
          <p:nvPr/>
        </p:nvGrpSpPr>
        <p:grpSpPr>
          <a:xfrm>
            <a:off x="951507" y="3320504"/>
            <a:ext cx="508164" cy="543813"/>
            <a:chOff x="0" y="0"/>
            <a:chExt cx="508162" cy="543811"/>
          </a:xfrm>
        </p:grpSpPr>
        <p:sp>
          <p:nvSpPr>
            <p:cNvPr id="232" name="Freeform 9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33" name="TextBox 10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237" name="Group 11"/>
          <p:cNvGrpSpPr/>
          <p:nvPr/>
        </p:nvGrpSpPr>
        <p:grpSpPr>
          <a:xfrm>
            <a:off x="951507" y="1987110"/>
            <a:ext cx="508164" cy="543813"/>
            <a:chOff x="0" y="0"/>
            <a:chExt cx="508162" cy="543811"/>
          </a:xfrm>
        </p:grpSpPr>
        <p:sp>
          <p:nvSpPr>
            <p:cNvPr id="235" name="Freeform 12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36" name="TextBox 13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240" name="Group 14"/>
          <p:cNvGrpSpPr/>
          <p:nvPr/>
        </p:nvGrpSpPr>
        <p:grpSpPr>
          <a:xfrm>
            <a:off x="951507" y="3988133"/>
            <a:ext cx="508164" cy="543813"/>
            <a:chOff x="0" y="0"/>
            <a:chExt cx="508162" cy="543811"/>
          </a:xfrm>
        </p:grpSpPr>
        <p:sp>
          <p:nvSpPr>
            <p:cNvPr id="238" name="Freeform 15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39" name="TextBox 16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243" name="Group 17"/>
          <p:cNvGrpSpPr/>
          <p:nvPr/>
        </p:nvGrpSpPr>
        <p:grpSpPr>
          <a:xfrm>
            <a:off x="951507" y="2652870"/>
            <a:ext cx="508164" cy="543813"/>
            <a:chOff x="0" y="0"/>
            <a:chExt cx="508162" cy="543811"/>
          </a:xfrm>
        </p:grpSpPr>
        <p:sp>
          <p:nvSpPr>
            <p:cNvPr id="241" name="Freeform 18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42" name="TextBox 19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246" name="Group 20"/>
          <p:cNvGrpSpPr/>
          <p:nvPr/>
        </p:nvGrpSpPr>
        <p:grpSpPr>
          <a:xfrm>
            <a:off x="951507" y="6430346"/>
            <a:ext cx="508164" cy="543812"/>
            <a:chOff x="0" y="0"/>
            <a:chExt cx="508162" cy="543811"/>
          </a:xfrm>
        </p:grpSpPr>
        <p:sp>
          <p:nvSpPr>
            <p:cNvPr id="244" name="Freeform 21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45" name="TextBox 22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249" name="Group 23"/>
          <p:cNvGrpSpPr/>
          <p:nvPr/>
        </p:nvGrpSpPr>
        <p:grpSpPr>
          <a:xfrm>
            <a:off x="951507" y="5764583"/>
            <a:ext cx="508164" cy="543813"/>
            <a:chOff x="0" y="0"/>
            <a:chExt cx="508162" cy="543811"/>
          </a:xfrm>
        </p:grpSpPr>
        <p:sp>
          <p:nvSpPr>
            <p:cNvPr id="247" name="Freeform 24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48" name="TextBox 25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252" name="Group 26"/>
          <p:cNvGrpSpPr/>
          <p:nvPr/>
        </p:nvGrpSpPr>
        <p:grpSpPr>
          <a:xfrm>
            <a:off x="951507" y="7088452"/>
            <a:ext cx="508164" cy="543813"/>
            <a:chOff x="0" y="0"/>
            <a:chExt cx="508162" cy="543811"/>
          </a:xfrm>
        </p:grpSpPr>
        <p:sp>
          <p:nvSpPr>
            <p:cNvPr id="250" name="Freeform 27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51" name="TextBox 28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255" name="Group 29"/>
          <p:cNvGrpSpPr/>
          <p:nvPr/>
        </p:nvGrpSpPr>
        <p:grpSpPr>
          <a:xfrm>
            <a:off x="951507" y="7756082"/>
            <a:ext cx="508164" cy="543813"/>
            <a:chOff x="0" y="0"/>
            <a:chExt cx="508162" cy="543811"/>
          </a:xfrm>
        </p:grpSpPr>
        <p:sp>
          <p:nvSpPr>
            <p:cNvPr id="253" name="Freeform 30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54" name="TextBox 31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256" name="Freeform 38"/>
          <p:cNvSpPr/>
          <p:nvPr/>
        </p:nvSpPr>
        <p:spPr>
          <a:xfrm>
            <a:off x="11762088" y="-9632634"/>
            <a:ext cx="10994429" cy="10994429"/>
          </a:xfrm>
          <a:prstGeom prst="ellipse">
            <a:avLst/>
          </a:prstGeom>
          <a:ln w="514350" cap="sq">
            <a:solidFill>
              <a:srgbClr val="FD6220">
                <a:alpha val="11765"/>
              </a:srgbClr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7" name="Freeform 10"/>
          <p:cNvSpPr/>
          <p:nvPr/>
        </p:nvSpPr>
        <p:spPr>
          <a:xfrm>
            <a:off x="16313419" y="910463"/>
            <a:ext cx="945883" cy="236474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8" name="TextBox 41"/>
          <p:cNvSpPr txBox="1"/>
          <p:nvPr/>
        </p:nvSpPr>
        <p:spPr>
          <a:xfrm>
            <a:off x="198118" y="342899"/>
            <a:ext cx="17815564" cy="764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PROPOSED SYSTEM ARCHITECTURE</a:t>
            </a:r>
          </a:p>
        </p:txBody>
      </p:sp>
      <p:pic>
        <p:nvPicPr>
          <p:cNvPr id="259" name="Gemini_Generated_Image_4im11f4im11f4im1.png" descr="Gemini_Generated_Image_4im11f4im11f4im1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493716" y="1669483"/>
            <a:ext cx="14568177" cy="794627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roup 14"/>
          <p:cNvGrpSpPr/>
          <p:nvPr/>
        </p:nvGrpSpPr>
        <p:grpSpPr>
          <a:xfrm>
            <a:off x="735587" y="5318633"/>
            <a:ext cx="992469" cy="992471"/>
            <a:chOff x="0" y="0"/>
            <a:chExt cx="992468" cy="992470"/>
          </a:xfrm>
        </p:grpSpPr>
        <p:sp>
          <p:nvSpPr>
            <p:cNvPr id="261" name="Freeform 15"/>
            <p:cNvSpPr/>
            <p:nvPr/>
          </p:nvSpPr>
          <p:spPr>
            <a:xfrm>
              <a:off x="0" y="-1"/>
              <a:ext cx="992469" cy="992472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62" name="TextBox 16"/>
            <p:cNvSpPr txBox="1"/>
            <p:nvPr/>
          </p:nvSpPr>
          <p:spPr>
            <a:xfrm>
              <a:off x="93043" y="183149"/>
              <a:ext cx="806380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266" name="Group 17"/>
          <p:cNvGrpSpPr/>
          <p:nvPr/>
        </p:nvGrpSpPr>
        <p:grpSpPr>
          <a:xfrm>
            <a:off x="977740" y="3315741"/>
            <a:ext cx="508163" cy="543813"/>
            <a:chOff x="0" y="0"/>
            <a:chExt cx="508162" cy="543811"/>
          </a:xfrm>
        </p:grpSpPr>
        <p:sp>
          <p:nvSpPr>
            <p:cNvPr id="264" name="Freeform 18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65" name="TextBox 19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269" name="Group 20"/>
          <p:cNvGrpSpPr/>
          <p:nvPr/>
        </p:nvGrpSpPr>
        <p:grpSpPr>
          <a:xfrm>
            <a:off x="977740" y="1982346"/>
            <a:ext cx="508163" cy="543812"/>
            <a:chOff x="0" y="0"/>
            <a:chExt cx="508162" cy="543811"/>
          </a:xfrm>
        </p:grpSpPr>
        <p:sp>
          <p:nvSpPr>
            <p:cNvPr id="267" name="Freeform 21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68" name="TextBox 22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272" name="Group 23"/>
          <p:cNvGrpSpPr/>
          <p:nvPr/>
        </p:nvGrpSpPr>
        <p:grpSpPr>
          <a:xfrm>
            <a:off x="977740" y="3983372"/>
            <a:ext cx="508163" cy="543813"/>
            <a:chOff x="0" y="0"/>
            <a:chExt cx="508162" cy="543811"/>
          </a:xfrm>
        </p:grpSpPr>
        <p:sp>
          <p:nvSpPr>
            <p:cNvPr id="270" name="Freeform 24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71" name="TextBox 25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275" name="Group 26"/>
          <p:cNvGrpSpPr/>
          <p:nvPr/>
        </p:nvGrpSpPr>
        <p:grpSpPr>
          <a:xfrm>
            <a:off x="977740" y="2648110"/>
            <a:ext cx="508163" cy="543811"/>
            <a:chOff x="0" y="-1"/>
            <a:chExt cx="508162" cy="543810"/>
          </a:xfrm>
        </p:grpSpPr>
        <p:sp>
          <p:nvSpPr>
            <p:cNvPr id="273" name="Freeform 27"/>
            <p:cNvSpPr/>
            <p:nvPr/>
          </p:nvSpPr>
          <p:spPr>
            <a:xfrm>
              <a:off x="-1" y="-2"/>
              <a:ext cx="508163" cy="543811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74" name="TextBox 28"/>
            <p:cNvSpPr txBox="1"/>
            <p:nvPr/>
          </p:nvSpPr>
          <p:spPr>
            <a:xfrm>
              <a:off x="47639" y="70503"/>
              <a:ext cx="412882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278" name="Group 29"/>
          <p:cNvGrpSpPr/>
          <p:nvPr/>
        </p:nvGrpSpPr>
        <p:grpSpPr>
          <a:xfrm>
            <a:off x="977740" y="6425583"/>
            <a:ext cx="508163" cy="543813"/>
            <a:chOff x="0" y="0"/>
            <a:chExt cx="508162" cy="543811"/>
          </a:xfrm>
        </p:grpSpPr>
        <p:sp>
          <p:nvSpPr>
            <p:cNvPr id="276" name="Freeform 30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77" name="TextBox 31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281" name="Group 32"/>
          <p:cNvGrpSpPr/>
          <p:nvPr/>
        </p:nvGrpSpPr>
        <p:grpSpPr>
          <a:xfrm>
            <a:off x="977740" y="4651001"/>
            <a:ext cx="508163" cy="543813"/>
            <a:chOff x="0" y="0"/>
            <a:chExt cx="508162" cy="543811"/>
          </a:xfrm>
        </p:grpSpPr>
        <p:sp>
          <p:nvSpPr>
            <p:cNvPr id="279" name="Freeform 33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80" name="TextBox 34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284" name="Group 37"/>
          <p:cNvGrpSpPr/>
          <p:nvPr/>
        </p:nvGrpSpPr>
        <p:grpSpPr>
          <a:xfrm>
            <a:off x="977740" y="7093214"/>
            <a:ext cx="508163" cy="543813"/>
            <a:chOff x="0" y="0"/>
            <a:chExt cx="508162" cy="543811"/>
          </a:xfrm>
        </p:grpSpPr>
        <p:sp>
          <p:nvSpPr>
            <p:cNvPr id="282" name="Freeform 38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83" name="TextBox 39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287" name="Group 40"/>
          <p:cNvGrpSpPr/>
          <p:nvPr/>
        </p:nvGrpSpPr>
        <p:grpSpPr>
          <a:xfrm>
            <a:off x="977740" y="7760843"/>
            <a:ext cx="508163" cy="543813"/>
            <a:chOff x="0" y="0"/>
            <a:chExt cx="508162" cy="543811"/>
          </a:xfrm>
        </p:grpSpPr>
        <p:sp>
          <p:nvSpPr>
            <p:cNvPr id="285" name="Freeform 41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86" name="TextBox 42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288" name="Freeform 10"/>
          <p:cNvSpPr/>
          <p:nvPr/>
        </p:nvSpPr>
        <p:spPr>
          <a:xfrm>
            <a:off x="16313419" y="910463"/>
            <a:ext cx="945883" cy="236474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89" name="TextBox 46"/>
          <p:cNvSpPr txBox="1"/>
          <p:nvPr/>
        </p:nvSpPr>
        <p:spPr>
          <a:xfrm>
            <a:off x="236218" y="315936"/>
            <a:ext cx="17815564" cy="76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WORKFLOW</a:t>
            </a:r>
          </a:p>
        </p:txBody>
      </p:sp>
      <p:sp>
        <p:nvSpPr>
          <p:cNvPr id="290" name="TextBox 49"/>
          <p:cNvSpPr txBox="1"/>
          <p:nvPr/>
        </p:nvSpPr>
        <p:spPr>
          <a:xfrm>
            <a:off x="2255517" y="2301873"/>
            <a:ext cx="15011405" cy="5030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[User Login]</a:t>
            </a:r>
            <a:br/>
            <a:r>
              <a:t>        ↓</a:t>
            </a:r>
            <a:br/>
            <a:r>
              <a:t>[Add / Update Product]</a:t>
            </a:r>
            <a:br/>
            <a:r>
              <a:t>        ↓</a:t>
            </a:r>
            <a:br/>
            <a:r>
              <a:t>[Stock In (Purchase)]</a:t>
            </a:r>
            <a:br/>
            <a:r>
              <a:t>        ↓</a:t>
            </a:r>
            <a:br/>
            <a:r>
              <a:t>[Stock Out (Sale)]</a:t>
            </a:r>
            <a:br/>
            <a:r>
              <a:t>        ↓</a:t>
            </a:r>
            <a:br/>
            <a:r>
              <a:t>[Automatic Stock Update]</a:t>
            </a:r>
            <a:br/>
            <a:r>
              <a:t>        ↓</a:t>
            </a:r>
            <a:br/>
            <a:r>
              <a:t>[Report Generation]</a:t>
            </a:r>
            <a:br/>
            <a:r>
              <a:t>        ↓</a:t>
            </a:r>
            <a:br/>
            <a:r>
              <a:t>[Logout]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roup 19"/>
          <p:cNvGrpSpPr/>
          <p:nvPr/>
        </p:nvGrpSpPr>
        <p:grpSpPr>
          <a:xfrm>
            <a:off x="735587" y="5976926"/>
            <a:ext cx="992469" cy="992472"/>
            <a:chOff x="0" y="0"/>
            <a:chExt cx="992468" cy="992470"/>
          </a:xfrm>
        </p:grpSpPr>
        <p:sp>
          <p:nvSpPr>
            <p:cNvPr id="292" name="Freeform 20"/>
            <p:cNvSpPr/>
            <p:nvPr/>
          </p:nvSpPr>
          <p:spPr>
            <a:xfrm>
              <a:off x="0" y="-1"/>
              <a:ext cx="992469" cy="992472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93" name="TextBox 21"/>
            <p:cNvSpPr txBox="1"/>
            <p:nvPr/>
          </p:nvSpPr>
          <p:spPr>
            <a:xfrm>
              <a:off x="93043" y="183149"/>
              <a:ext cx="806380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297" name="Group 22"/>
          <p:cNvGrpSpPr/>
          <p:nvPr/>
        </p:nvGrpSpPr>
        <p:grpSpPr>
          <a:xfrm>
            <a:off x="977740" y="3315741"/>
            <a:ext cx="508163" cy="543813"/>
            <a:chOff x="0" y="0"/>
            <a:chExt cx="508162" cy="543811"/>
          </a:xfrm>
        </p:grpSpPr>
        <p:sp>
          <p:nvSpPr>
            <p:cNvPr id="295" name="Freeform 23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96" name="TextBox 24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300" name="Group 25"/>
          <p:cNvGrpSpPr/>
          <p:nvPr/>
        </p:nvGrpSpPr>
        <p:grpSpPr>
          <a:xfrm>
            <a:off x="977740" y="1982346"/>
            <a:ext cx="508163" cy="543812"/>
            <a:chOff x="0" y="0"/>
            <a:chExt cx="508162" cy="543811"/>
          </a:xfrm>
        </p:grpSpPr>
        <p:sp>
          <p:nvSpPr>
            <p:cNvPr id="298" name="Freeform 26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99" name="TextBox 27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303" name="Group 28"/>
          <p:cNvGrpSpPr/>
          <p:nvPr/>
        </p:nvGrpSpPr>
        <p:grpSpPr>
          <a:xfrm>
            <a:off x="977740" y="3983372"/>
            <a:ext cx="508163" cy="543813"/>
            <a:chOff x="0" y="0"/>
            <a:chExt cx="508162" cy="543811"/>
          </a:xfrm>
        </p:grpSpPr>
        <p:sp>
          <p:nvSpPr>
            <p:cNvPr id="301" name="Freeform 29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02" name="TextBox 30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306" name="Group 31"/>
          <p:cNvGrpSpPr/>
          <p:nvPr/>
        </p:nvGrpSpPr>
        <p:grpSpPr>
          <a:xfrm>
            <a:off x="977740" y="2648110"/>
            <a:ext cx="508163" cy="543811"/>
            <a:chOff x="0" y="-1"/>
            <a:chExt cx="508162" cy="543810"/>
          </a:xfrm>
        </p:grpSpPr>
        <p:sp>
          <p:nvSpPr>
            <p:cNvPr id="304" name="Freeform 32"/>
            <p:cNvSpPr/>
            <p:nvPr/>
          </p:nvSpPr>
          <p:spPr>
            <a:xfrm>
              <a:off x="-1" y="-2"/>
              <a:ext cx="508163" cy="543811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05" name="TextBox 33"/>
            <p:cNvSpPr txBox="1"/>
            <p:nvPr/>
          </p:nvSpPr>
          <p:spPr>
            <a:xfrm>
              <a:off x="47639" y="70503"/>
              <a:ext cx="412882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309" name="Group 34"/>
          <p:cNvGrpSpPr/>
          <p:nvPr/>
        </p:nvGrpSpPr>
        <p:grpSpPr>
          <a:xfrm>
            <a:off x="977740" y="5318632"/>
            <a:ext cx="508163" cy="543813"/>
            <a:chOff x="0" y="0"/>
            <a:chExt cx="508162" cy="543811"/>
          </a:xfrm>
        </p:grpSpPr>
        <p:sp>
          <p:nvSpPr>
            <p:cNvPr id="307" name="Freeform 35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08" name="TextBox 36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312" name="Group 37"/>
          <p:cNvGrpSpPr/>
          <p:nvPr/>
        </p:nvGrpSpPr>
        <p:grpSpPr>
          <a:xfrm>
            <a:off x="977740" y="4651001"/>
            <a:ext cx="508163" cy="543813"/>
            <a:chOff x="0" y="0"/>
            <a:chExt cx="508162" cy="543811"/>
          </a:xfrm>
        </p:grpSpPr>
        <p:sp>
          <p:nvSpPr>
            <p:cNvPr id="310" name="Freeform 38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11" name="TextBox 39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315" name="Group 40"/>
          <p:cNvGrpSpPr/>
          <p:nvPr/>
        </p:nvGrpSpPr>
        <p:grpSpPr>
          <a:xfrm>
            <a:off x="977740" y="7093214"/>
            <a:ext cx="508163" cy="543813"/>
            <a:chOff x="0" y="0"/>
            <a:chExt cx="508162" cy="543811"/>
          </a:xfrm>
        </p:grpSpPr>
        <p:sp>
          <p:nvSpPr>
            <p:cNvPr id="313" name="Freeform 41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14" name="TextBox 42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318" name="Group 43"/>
          <p:cNvGrpSpPr/>
          <p:nvPr/>
        </p:nvGrpSpPr>
        <p:grpSpPr>
          <a:xfrm>
            <a:off x="977740" y="7760843"/>
            <a:ext cx="508163" cy="543813"/>
            <a:chOff x="0" y="0"/>
            <a:chExt cx="508162" cy="543811"/>
          </a:xfrm>
        </p:grpSpPr>
        <p:sp>
          <p:nvSpPr>
            <p:cNvPr id="316" name="Freeform 44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17" name="TextBox 45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319" name="Freeform 10"/>
          <p:cNvSpPr/>
          <p:nvPr/>
        </p:nvSpPr>
        <p:spPr>
          <a:xfrm>
            <a:off x="16313419" y="910463"/>
            <a:ext cx="945883" cy="236474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20" name="TextBox 46"/>
          <p:cNvSpPr txBox="1"/>
          <p:nvPr/>
        </p:nvSpPr>
        <p:spPr>
          <a:xfrm>
            <a:off x="198118" y="342899"/>
            <a:ext cx="17815564" cy="764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TECHNOLOGIES USED</a:t>
            </a:r>
          </a:p>
        </p:txBody>
      </p:sp>
      <p:sp>
        <p:nvSpPr>
          <p:cNvPr id="321" name="TextBox 47"/>
          <p:cNvSpPr txBox="1"/>
          <p:nvPr/>
        </p:nvSpPr>
        <p:spPr>
          <a:xfrm>
            <a:off x="2102436" y="2063520"/>
            <a:ext cx="14994489" cy="5792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➤ </a:t>
            </a:r>
            <a:r>
              <a:rPr b="1"/>
              <a:t>Frontend:</a:t>
            </a:r>
            <a:br>
              <a:rPr b="1"/>
            </a:br>
            <a:r>
              <a:t>HTML, CSS, JavaScript</a:t>
            </a:r>
          </a:p>
          <a:p>
            <a:pPr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➤ </a:t>
            </a:r>
            <a:r>
              <a:rPr b="1"/>
              <a:t>Backend:</a:t>
            </a:r>
            <a:br>
              <a:rPr b="1"/>
            </a:br>
            <a:r>
              <a:t>Java </a:t>
            </a:r>
          </a:p>
          <a:p>
            <a:pPr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➤ </a:t>
            </a:r>
            <a:r>
              <a:rPr b="1"/>
              <a:t>Database:</a:t>
            </a:r>
            <a:br>
              <a:rPr b="1"/>
            </a:br>
            <a:r>
              <a:t>MySQL (Relational Database)</a:t>
            </a:r>
          </a:p>
          <a:p>
            <a:pPr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➤ </a:t>
            </a:r>
            <a:r>
              <a:rPr b="1"/>
              <a:t>Tools:</a:t>
            </a:r>
            <a:br>
              <a:rPr b="1"/>
            </a:br>
            <a:r>
              <a:t>VS Code / Eclipse</a:t>
            </a:r>
            <a:br/>
            <a:r>
              <a:t>MySQL Workbench</a:t>
            </a:r>
            <a:br/>
            <a:r>
              <a:t>Apache Tomcat</a:t>
            </a:r>
            <a:br/>
            <a:r>
              <a:t>Git</a:t>
            </a:r>
          </a:p>
          <a:p>
            <a:pPr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➤ </a:t>
            </a:r>
            <a:r>
              <a:rPr b="1"/>
              <a:t>Hardware Requirements:</a:t>
            </a:r>
            <a:br>
              <a:rPr b="1"/>
            </a:br>
            <a:r>
              <a:t>Minimum 4GB RAM</a:t>
            </a:r>
            <a:br/>
            <a:r>
              <a:t>Dual-Core Processor</a:t>
            </a:r>
            <a:br/>
            <a:r>
              <a:t>Windows/Linux OS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roup 7"/>
          <p:cNvGrpSpPr/>
          <p:nvPr/>
        </p:nvGrpSpPr>
        <p:grpSpPr>
          <a:xfrm>
            <a:off x="735587" y="6653893"/>
            <a:ext cx="992469" cy="992471"/>
            <a:chOff x="0" y="0"/>
            <a:chExt cx="992468" cy="992470"/>
          </a:xfrm>
        </p:grpSpPr>
        <p:sp>
          <p:nvSpPr>
            <p:cNvPr id="323" name="Freeform 8"/>
            <p:cNvSpPr/>
            <p:nvPr/>
          </p:nvSpPr>
          <p:spPr>
            <a:xfrm>
              <a:off x="0" y="-1"/>
              <a:ext cx="992469" cy="992472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24" name="TextBox 9"/>
            <p:cNvSpPr txBox="1"/>
            <p:nvPr/>
          </p:nvSpPr>
          <p:spPr>
            <a:xfrm>
              <a:off x="93043" y="183149"/>
              <a:ext cx="806380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328" name="Group 10"/>
          <p:cNvGrpSpPr/>
          <p:nvPr/>
        </p:nvGrpSpPr>
        <p:grpSpPr>
          <a:xfrm>
            <a:off x="977740" y="3315741"/>
            <a:ext cx="508163" cy="543813"/>
            <a:chOff x="0" y="0"/>
            <a:chExt cx="508162" cy="543811"/>
          </a:xfrm>
        </p:grpSpPr>
        <p:sp>
          <p:nvSpPr>
            <p:cNvPr id="326" name="Freeform 11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27" name="TextBox 12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331" name="Group 13"/>
          <p:cNvGrpSpPr/>
          <p:nvPr/>
        </p:nvGrpSpPr>
        <p:grpSpPr>
          <a:xfrm>
            <a:off x="977740" y="1982346"/>
            <a:ext cx="508163" cy="543812"/>
            <a:chOff x="0" y="0"/>
            <a:chExt cx="508162" cy="543811"/>
          </a:xfrm>
        </p:grpSpPr>
        <p:sp>
          <p:nvSpPr>
            <p:cNvPr id="329" name="Freeform 14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30" name="TextBox 15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334" name="Group 16"/>
          <p:cNvGrpSpPr/>
          <p:nvPr/>
        </p:nvGrpSpPr>
        <p:grpSpPr>
          <a:xfrm>
            <a:off x="977740" y="3983372"/>
            <a:ext cx="508163" cy="543813"/>
            <a:chOff x="0" y="0"/>
            <a:chExt cx="508162" cy="543811"/>
          </a:xfrm>
        </p:grpSpPr>
        <p:sp>
          <p:nvSpPr>
            <p:cNvPr id="332" name="Freeform 17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33" name="TextBox 18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337" name="Group 19"/>
          <p:cNvGrpSpPr/>
          <p:nvPr/>
        </p:nvGrpSpPr>
        <p:grpSpPr>
          <a:xfrm>
            <a:off x="977740" y="2648110"/>
            <a:ext cx="508163" cy="543811"/>
            <a:chOff x="0" y="-1"/>
            <a:chExt cx="508162" cy="543810"/>
          </a:xfrm>
        </p:grpSpPr>
        <p:sp>
          <p:nvSpPr>
            <p:cNvPr id="335" name="Freeform 20"/>
            <p:cNvSpPr/>
            <p:nvPr/>
          </p:nvSpPr>
          <p:spPr>
            <a:xfrm>
              <a:off x="-1" y="-2"/>
              <a:ext cx="508163" cy="543811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36" name="TextBox 21"/>
            <p:cNvSpPr txBox="1"/>
            <p:nvPr/>
          </p:nvSpPr>
          <p:spPr>
            <a:xfrm>
              <a:off x="47639" y="70503"/>
              <a:ext cx="412882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340" name="Group 22"/>
          <p:cNvGrpSpPr/>
          <p:nvPr/>
        </p:nvGrpSpPr>
        <p:grpSpPr>
          <a:xfrm>
            <a:off x="977740" y="5318632"/>
            <a:ext cx="508163" cy="543813"/>
            <a:chOff x="0" y="0"/>
            <a:chExt cx="508162" cy="543811"/>
          </a:xfrm>
        </p:grpSpPr>
        <p:sp>
          <p:nvSpPr>
            <p:cNvPr id="338" name="Freeform 23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39" name="TextBox 24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343" name="Group 25"/>
          <p:cNvGrpSpPr/>
          <p:nvPr/>
        </p:nvGrpSpPr>
        <p:grpSpPr>
          <a:xfrm>
            <a:off x="977740" y="4651001"/>
            <a:ext cx="508163" cy="543813"/>
            <a:chOff x="0" y="0"/>
            <a:chExt cx="508162" cy="543811"/>
          </a:xfrm>
        </p:grpSpPr>
        <p:sp>
          <p:nvSpPr>
            <p:cNvPr id="341" name="Freeform 26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42" name="TextBox 27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346" name="Group 28"/>
          <p:cNvGrpSpPr/>
          <p:nvPr/>
        </p:nvGrpSpPr>
        <p:grpSpPr>
          <a:xfrm>
            <a:off x="977740" y="5986263"/>
            <a:ext cx="508163" cy="543813"/>
            <a:chOff x="0" y="0"/>
            <a:chExt cx="508162" cy="543811"/>
          </a:xfrm>
        </p:grpSpPr>
        <p:sp>
          <p:nvSpPr>
            <p:cNvPr id="344" name="Freeform 29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45" name="TextBox 30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349" name="Group 31"/>
          <p:cNvGrpSpPr/>
          <p:nvPr/>
        </p:nvGrpSpPr>
        <p:grpSpPr>
          <a:xfrm>
            <a:off x="977740" y="7760843"/>
            <a:ext cx="508163" cy="543813"/>
            <a:chOff x="0" y="0"/>
            <a:chExt cx="508162" cy="543811"/>
          </a:xfrm>
        </p:grpSpPr>
        <p:sp>
          <p:nvSpPr>
            <p:cNvPr id="347" name="Freeform 32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48" name="TextBox 33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350" name="Freeform 34"/>
          <p:cNvSpPr/>
          <p:nvPr/>
        </p:nvSpPr>
        <p:spPr>
          <a:xfrm>
            <a:off x="16313419" y="1028699"/>
            <a:ext cx="945883" cy="23647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51" name="Freeform 36"/>
          <p:cNvSpPr/>
          <p:nvPr/>
        </p:nvSpPr>
        <p:spPr>
          <a:xfrm>
            <a:off x="17170669" y="-178580"/>
            <a:ext cx="10994427" cy="10994426"/>
          </a:xfrm>
          <a:prstGeom prst="ellipse">
            <a:avLst/>
          </a:prstGeom>
          <a:ln w="514350" cap="sq">
            <a:solidFill>
              <a:srgbClr val="FD6220">
                <a:alpha val="11765"/>
              </a:srgbClr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52" name="TextBox 42"/>
          <p:cNvSpPr txBox="1"/>
          <p:nvPr/>
        </p:nvSpPr>
        <p:spPr>
          <a:xfrm>
            <a:off x="198118" y="342899"/>
            <a:ext cx="17815564" cy="764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MODULE DESCRIPTION</a:t>
            </a:r>
          </a:p>
        </p:txBody>
      </p:sp>
      <p:sp>
        <p:nvSpPr>
          <p:cNvPr id="353" name="TextBox 43"/>
          <p:cNvSpPr txBox="1"/>
          <p:nvPr/>
        </p:nvSpPr>
        <p:spPr>
          <a:xfrm>
            <a:off x="2255518" y="1638299"/>
            <a:ext cx="14995206" cy="7697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➤ </a:t>
            </a:r>
            <a:r>
              <a:rPr b="1"/>
              <a:t>Module 1: </a:t>
            </a:r>
            <a:r>
              <a:t>User Management</a:t>
            </a:r>
            <a:br/>
            <a:r>
              <a:t>• Admin Login</a:t>
            </a:r>
            <a:br/>
            <a:r>
              <a:t>• Role-based Authentication</a:t>
            </a:r>
          </a:p>
          <a:p>
            <a:pPr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➤ </a:t>
            </a:r>
            <a:r>
              <a:rPr b="1"/>
              <a:t>Module 2:</a:t>
            </a:r>
            <a:r>
              <a:t> Product Management</a:t>
            </a:r>
            <a:br/>
            <a:r>
              <a:t>• Add Product</a:t>
            </a:r>
            <a:br/>
            <a:r>
              <a:t>• Update Product</a:t>
            </a:r>
            <a:br/>
            <a:r>
              <a:t>• Delete Product</a:t>
            </a:r>
            <a:br/>
            <a:r>
              <a:t>• View Product</a:t>
            </a:r>
          </a:p>
          <a:p>
            <a:pPr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➤ </a:t>
            </a:r>
            <a:r>
              <a:rPr b="1"/>
              <a:t>Module 3: </a:t>
            </a:r>
            <a:r>
              <a:t>Supplier &amp; Purchase Module</a:t>
            </a:r>
            <a:br/>
            <a:r>
              <a:t>• Add Supplier</a:t>
            </a:r>
            <a:br/>
            <a:r>
              <a:t>• Record Purchase</a:t>
            </a:r>
            <a:br/>
            <a:r>
              <a:t>• Update Stock Automatically</a:t>
            </a:r>
          </a:p>
          <a:p>
            <a:pPr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➤ </a:t>
            </a:r>
            <a:r>
              <a:rPr b="1"/>
              <a:t>Module 4:</a:t>
            </a:r>
            <a:r>
              <a:t> Sales &amp; Billing Module</a:t>
            </a:r>
            <a:br/>
            <a:r>
              <a:t>• Record Sales</a:t>
            </a:r>
            <a:br/>
            <a:r>
              <a:t>• Reduce Stock Automatically</a:t>
            </a:r>
            <a:br/>
            <a:r>
              <a:t>• Generate Invoice</a:t>
            </a:r>
          </a:p>
          <a:p>
            <a:pPr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➤ </a:t>
            </a:r>
            <a:r>
              <a:rPr b="1"/>
              <a:t>Module 5:</a:t>
            </a:r>
            <a:r>
              <a:t> Reporting Module</a:t>
            </a:r>
            <a:br/>
            <a:r>
              <a:t>• Stock Report</a:t>
            </a:r>
            <a:br/>
            <a:r>
              <a:t>• Sales Report</a:t>
            </a:r>
            <a:br/>
            <a:r>
              <a:t>• Low Stock Alert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7" name="Group 7"/>
          <p:cNvGrpSpPr/>
          <p:nvPr/>
        </p:nvGrpSpPr>
        <p:grpSpPr>
          <a:xfrm>
            <a:off x="735587" y="6653893"/>
            <a:ext cx="992469" cy="992471"/>
            <a:chOff x="0" y="0"/>
            <a:chExt cx="992468" cy="992470"/>
          </a:xfrm>
        </p:grpSpPr>
        <p:sp>
          <p:nvSpPr>
            <p:cNvPr id="355" name="Freeform 8"/>
            <p:cNvSpPr/>
            <p:nvPr/>
          </p:nvSpPr>
          <p:spPr>
            <a:xfrm>
              <a:off x="0" y="-1"/>
              <a:ext cx="992469" cy="992472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56" name="TextBox 9"/>
            <p:cNvSpPr txBox="1"/>
            <p:nvPr/>
          </p:nvSpPr>
          <p:spPr>
            <a:xfrm>
              <a:off x="93043" y="187530"/>
              <a:ext cx="806380" cy="547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b="1" sz="240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360" name="Group 10"/>
          <p:cNvGrpSpPr/>
          <p:nvPr/>
        </p:nvGrpSpPr>
        <p:grpSpPr>
          <a:xfrm>
            <a:off x="977740" y="3315741"/>
            <a:ext cx="508163" cy="543813"/>
            <a:chOff x="0" y="0"/>
            <a:chExt cx="508162" cy="543811"/>
          </a:xfrm>
        </p:grpSpPr>
        <p:sp>
          <p:nvSpPr>
            <p:cNvPr id="358" name="Freeform 11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59" name="TextBox 12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363" name="Group 13"/>
          <p:cNvGrpSpPr/>
          <p:nvPr/>
        </p:nvGrpSpPr>
        <p:grpSpPr>
          <a:xfrm>
            <a:off x="977740" y="1982346"/>
            <a:ext cx="508163" cy="543812"/>
            <a:chOff x="0" y="0"/>
            <a:chExt cx="508162" cy="543811"/>
          </a:xfrm>
        </p:grpSpPr>
        <p:sp>
          <p:nvSpPr>
            <p:cNvPr id="361" name="Freeform 14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62" name="TextBox 15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366" name="Group 16"/>
          <p:cNvGrpSpPr/>
          <p:nvPr/>
        </p:nvGrpSpPr>
        <p:grpSpPr>
          <a:xfrm>
            <a:off x="977740" y="3983372"/>
            <a:ext cx="508163" cy="543813"/>
            <a:chOff x="0" y="0"/>
            <a:chExt cx="508162" cy="543811"/>
          </a:xfrm>
        </p:grpSpPr>
        <p:sp>
          <p:nvSpPr>
            <p:cNvPr id="364" name="Freeform 17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65" name="TextBox 18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369" name="Group 19"/>
          <p:cNvGrpSpPr/>
          <p:nvPr/>
        </p:nvGrpSpPr>
        <p:grpSpPr>
          <a:xfrm>
            <a:off x="977740" y="2648110"/>
            <a:ext cx="508163" cy="543811"/>
            <a:chOff x="0" y="-1"/>
            <a:chExt cx="508162" cy="543810"/>
          </a:xfrm>
        </p:grpSpPr>
        <p:sp>
          <p:nvSpPr>
            <p:cNvPr id="367" name="Freeform 20"/>
            <p:cNvSpPr/>
            <p:nvPr/>
          </p:nvSpPr>
          <p:spPr>
            <a:xfrm>
              <a:off x="-1" y="-2"/>
              <a:ext cx="508163" cy="543811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68" name="TextBox 21"/>
            <p:cNvSpPr txBox="1"/>
            <p:nvPr/>
          </p:nvSpPr>
          <p:spPr>
            <a:xfrm>
              <a:off x="47639" y="70503"/>
              <a:ext cx="412882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372" name="Group 22"/>
          <p:cNvGrpSpPr/>
          <p:nvPr/>
        </p:nvGrpSpPr>
        <p:grpSpPr>
          <a:xfrm>
            <a:off x="977740" y="5318632"/>
            <a:ext cx="508163" cy="543813"/>
            <a:chOff x="0" y="0"/>
            <a:chExt cx="508162" cy="543811"/>
          </a:xfrm>
        </p:grpSpPr>
        <p:sp>
          <p:nvSpPr>
            <p:cNvPr id="370" name="Freeform 23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71" name="TextBox 24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375" name="Group 25"/>
          <p:cNvGrpSpPr/>
          <p:nvPr/>
        </p:nvGrpSpPr>
        <p:grpSpPr>
          <a:xfrm>
            <a:off x="977740" y="4651001"/>
            <a:ext cx="508163" cy="543813"/>
            <a:chOff x="0" y="0"/>
            <a:chExt cx="508162" cy="543811"/>
          </a:xfrm>
        </p:grpSpPr>
        <p:sp>
          <p:nvSpPr>
            <p:cNvPr id="373" name="Freeform 26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74" name="TextBox 27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378" name="Group 28"/>
          <p:cNvGrpSpPr/>
          <p:nvPr/>
        </p:nvGrpSpPr>
        <p:grpSpPr>
          <a:xfrm>
            <a:off x="977740" y="5986263"/>
            <a:ext cx="508163" cy="543813"/>
            <a:chOff x="0" y="0"/>
            <a:chExt cx="508162" cy="543811"/>
          </a:xfrm>
        </p:grpSpPr>
        <p:sp>
          <p:nvSpPr>
            <p:cNvPr id="376" name="Freeform 29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77" name="TextBox 30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381" name="Group 31"/>
          <p:cNvGrpSpPr/>
          <p:nvPr/>
        </p:nvGrpSpPr>
        <p:grpSpPr>
          <a:xfrm>
            <a:off x="977740" y="7760843"/>
            <a:ext cx="508163" cy="543813"/>
            <a:chOff x="0" y="0"/>
            <a:chExt cx="508162" cy="543811"/>
          </a:xfrm>
        </p:grpSpPr>
        <p:sp>
          <p:nvSpPr>
            <p:cNvPr id="379" name="Freeform 32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80" name="TextBox 33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382" name="Freeform 34"/>
          <p:cNvSpPr/>
          <p:nvPr/>
        </p:nvSpPr>
        <p:spPr>
          <a:xfrm>
            <a:off x="16313419" y="1028699"/>
            <a:ext cx="945883" cy="23647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83" name="Freeform 36"/>
          <p:cNvSpPr/>
          <p:nvPr/>
        </p:nvSpPr>
        <p:spPr>
          <a:xfrm>
            <a:off x="17170669" y="-178580"/>
            <a:ext cx="10994427" cy="10994426"/>
          </a:xfrm>
          <a:prstGeom prst="ellipse">
            <a:avLst/>
          </a:prstGeom>
          <a:ln w="514350" cap="sq">
            <a:solidFill>
              <a:srgbClr val="FD6220">
                <a:alpha val="11765"/>
              </a:srgbClr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84" name="TextBox 42"/>
          <p:cNvSpPr txBox="1"/>
          <p:nvPr/>
        </p:nvSpPr>
        <p:spPr>
          <a:xfrm>
            <a:off x="198118" y="342899"/>
            <a:ext cx="17815564" cy="764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IMPLEMENTATION SCREENSHOTS</a:t>
            </a:r>
          </a:p>
        </p:txBody>
      </p:sp>
      <p:pic>
        <p:nvPicPr>
          <p:cNvPr id="385" name="Screenshot 2026-03-26 at 8.59.38 AM.png" descr="Screenshot 2026-03-26 at 8.59.38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064709" y="1397256"/>
            <a:ext cx="8909018" cy="3959564"/>
          </a:xfrm>
          <a:prstGeom prst="rect">
            <a:avLst/>
          </a:prstGeom>
          <a:ln w="12700">
            <a:miter lim="400000"/>
          </a:ln>
        </p:spPr>
      </p:pic>
      <p:pic>
        <p:nvPicPr>
          <p:cNvPr id="386" name="Screenshot 2026-03-26 at 8.59.51 AM.png" descr="Screenshot 2026-03-26 at 8.59.51 A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921359" y="5801941"/>
            <a:ext cx="5217322" cy="3986360"/>
          </a:xfrm>
          <a:prstGeom prst="rect">
            <a:avLst/>
          </a:prstGeom>
          <a:ln w="12700">
            <a:miter lim="400000"/>
          </a:ln>
        </p:spPr>
      </p:pic>
      <p:pic>
        <p:nvPicPr>
          <p:cNvPr id="387" name="Screenshot 2026-03-26 at 9.00.03 AM.png" descr="Screenshot 2026-03-26 at 9.00.03 AM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1215485" y="5647134"/>
            <a:ext cx="4819201" cy="42959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" name="Group 7"/>
          <p:cNvGrpSpPr/>
          <p:nvPr/>
        </p:nvGrpSpPr>
        <p:grpSpPr>
          <a:xfrm>
            <a:off x="735587" y="6653893"/>
            <a:ext cx="992469" cy="992471"/>
            <a:chOff x="0" y="0"/>
            <a:chExt cx="992468" cy="992470"/>
          </a:xfrm>
        </p:grpSpPr>
        <p:sp>
          <p:nvSpPr>
            <p:cNvPr id="389" name="Freeform 8"/>
            <p:cNvSpPr/>
            <p:nvPr/>
          </p:nvSpPr>
          <p:spPr>
            <a:xfrm>
              <a:off x="0" y="-1"/>
              <a:ext cx="992469" cy="992472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90" name="TextBox 9"/>
            <p:cNvSpPr txBox="1"/>
            <p:nvPr/>
          </p:nvSpPr>
          <p:spPr>
            <a:xfrm>
              <a:off x="93043" y="187530"/>
              <a:ext cx="806380" cy="547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b="1" sz="240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8(A)</a:t>
              </a:r>
            </a:p>
          </p:txBody>
        </p:sp>
      </p:grpSp>
      <p:grpSp>
        <p:nvGrpSpPr>
          <p:cNvPr id="394" name="Group 10"/>
          <p:cNvGrpSpPr/>
          <p:nvPr/>
        </p:nvGrpSpPr>
        <p:grpSpPr>
          <a:xfrm>
            <a:off x="977740" y="3315741"/>
            <a:ext cx="508163" cy="543813"/>
            <a:chOff x="0" y="0"/>
            <a:chExt cx="508162" cy="543811"/>
          </a:xfrm>
        </p:grpSpPr>
        <p:sp>
          <p:nvSpPr>
            <p:cNvPr id="392" name="Freeform 11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93" name="TextBox 12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397" name="Group 13"/>
          <p:cNvGrpSpPr/>
          <p:nvPr/>
        </p:nvGrpSpPr>
        <p:grpSpPr>
          <a:xfrm>
            <a:off x="977740" y="1982346"/>
            <a:ext cx="508163" cy="543812"/>
            <a:chOff x="0" y="0"/>
            <a:chExt cx="508162" cy="543811"/>
          </a:xfrm>
        </p:grpSpPr>
        <p:sp>
          <p:nvSpPr>
            <p:cNvPr id="395" name="Freeform 14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96" name="TextBox 15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400" name="Group 16"/>
          <p:cNvGrpSpPr/>
          <p:nvPr/>
        </p:nvGrpSpPr>
        <p:grpSpPr>
          <a:xfrm>
            <a:off x="977740" y="3983372"/>
            <a:ext cx="508163" cy="543813"/>
            <a:chOff x="0" y="0"/>
            <a:chExt cx="508162" cy="543811"/>
          </a:xfrm>
        </p:grpSpPr>
        <p:sp>
          <p:nvSpPr>
            <p:cNvPr id="398" name="Freeform 17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399" name="TextBox 18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403" name="Group 19"/>
          <p:cNvGrpSpPr/>
          <p:nvPr/>
        </p:nvGrpSpPr>
        <p:grpSpPr>
          <a:xfrm>
            <a:off x="977740" y="2648110"/>
            <a:ext cx="508163" cy="543811"/>
            <a:chOff x="0" y="-1"/>
            <a:chExt cx="508162" cy="543810"/>
          </a:xfrm>
        </p:grpSpPr>
        <p:sp>
          <p:nvSpPr>
            <p:cNvPr id="401" name="Freeform 20"/>
            <p:cNvSpPr/>
            <p:nvPr/>
          </p:nvSpPr>
          <p:spPr>
            <a:xfrm>
              <a:off x="-1" y="-2"/>
              <a:ext cx="508163" cy="543811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02" name="TextBox 21"/>
            <p:cNvSpPr txBox="1"/>
            <p:nvPr/>
          </p:nvSpPr>
          <p:spPr>
            <a:xfrm>
              <a:off x="47639" y="70503"/>
              <a:ext cx="412882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406" name="Group 22"/>
          <p:cNvGrpSpPr/>
          <p:nvPr/>
        </p:nvGrpSpPr>
        <p:grpSpPr>
          <a:xfrm>
            <a:off x="977740" y="5318632"/>
            <a:ext cx="508163" cy="543813"/>
            <a:chOff x="0" y="0"/>
            <a:chExt cx="508162" cy="543811"/>
          </a:xfrm>
        </p:grpSpPr>
        <p:sp>
          <p:nvSpPr>
            <p:cNvPr id="404" name="Freeform 23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05" name="TextBox 24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409" name="Group 25"/>
          <p:cNvGrpSpPr/>
          <p:nvPr/>
        </p:nvGrpSpPr>
        <p:grpSpPr>
          <a:xfrm>
            <a:off x="977740" y="4651001"/>
            <a:ext cx="508163" cy="543813"/>
            <a:chOff x="0" y="0"/>
            <a:chExt cx="508162" cy="543811"/>
          </a:xfrm>
        </p:grpSpPr>
        <p:sp>
          <p:nvSpPr>
            <p:cNvPr id="407" name="Freeform 26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08" name="TextBox 27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412" name="Group 28"/>
          <p:cNvGrpSpPr/>
          <p:nvPr/>
        </p:nvGrpSpPr>
        <p:grpSpPr>
          <a:xfrm>
            <a:off x="977740" y="5986263"/>
            <a:ext cx="508163" cy="543813"/>
            <a:chOff x="0" y="0"/>
            <a:chExt cx="508162" cy="543811"/>
          </a:xfrm>
        </p:grpSpPr>
        <p:sp>
          <p:nvSpPr>
            <p:cNvPr id="410" name="Freeform 29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11" name="TextBox 30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415" name="Group 31"/>
          <p:cNvGrpSpPr/>
          <p:nvPr/>
        </p:nvGrpSpPr>
        <p:grpSpPr>
          <a:xfrm>
            <a:off x="977740" y="7760843"/>
            <a:ext cx="508163" cy="543813"/>
            <a:chOff x="0" y="0"/>
            <a:chExt cx="508162" cy="543811"/>
          </a:xfrm>
        </p:grpSpPr>
        <p:sp>
          <p:nvSpPr>
            <p:cNvPr id="413" name="Freeform 32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14" name="TextBox 33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416" name="Freeform 34"/>
          <p:cNvSpPr/>
          <p:nvPr/>
        </p:nvSpPr>
        <p:spPr>
          <a:xfrm>
            <a:off x="16313419" y="1028699"/>
            <a:ext cx="945883" cy="23647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17" name="Freeform 36"/>
          <p:cNvSpPr/>
          <p:nvPr/>
        </p:nvSpPr>
        <p:spPr>
          <a:xfrm>
            <a:off x="17170669" y="-178580"/>
            <a:ext cx="10994427" cy="10994426"/>
          </a:xfrm>
          <a:prstGeom prst="ellipse">
            <a:avLst/>
          </a:prstGeom>
          <a:ln w="514350" cap="sq">
            <a:solidFill>
              <a:srgbClr val="FD6220">
                <a:alpha val="11765"/>
              </a:srgbClr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18" name="TextBox 42"/>
          <p:cNvSpPr txBox="1"/>
          <p:nvPr/>
        </p:nvSpPr>
        <p:spPr>
          <a:xfrm>
            <a:off x="198118" y="342899"/>
            <a:ext cx="17815564" cy="764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IMPLEMENTATION SCREENSHOTS</a:t>
            </a:r>
          </a:p>
        </p:txBody>
      </p:sp>
      <p:pic>
        <p:nvPicPr>
          <p:cNvPr id="419" name="Screenshot 2026-03-26 at 9.00.34 AM.png" descr="Screenshot 2026-03-26 at 9.00.34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02163" y="1353857"/>
            <a:ext cx="13273418" cy="75792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3" name="Group 7"/>
          <p:cNvGrpSpPr/>
          <p:nvPr/>
        </p:nvGrpSpPr>
        <p:grpSpPr>
          <a:xfrm>
            <a:off x="735587" y="6653893"/>
            <a:ext cx="992469" cy="992471"/>
            <a:chOff x="0" y="0"/>
            <a:chExt cx="992468" cy="992470"/>
          </a:xfrm>
        </p:grpSpPr>
        <p:sp>
          <p:nvSpPr>
            <p:cNvPr id="421" name="Freeform 8"/>
            <p:cNvSpPr/>
            <p:nvPr/>
          </p:nvSpPr>
          <p:spPr>
            <a:xfrm>
              <a:off x="0" y="-1"/>
              <a:ext cx="992469" cy="992472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22" name="TextBox 9"/>
            <p:cNvSpPr txBox="1"/>
            <p:nvPr/>
          </p:nvSpPr>
          <p:spPr>
            <a:xfrm>
              <a:off x="93043" y="187530"/>
              <a:ext cx="806380" cy="547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b="1" sz="240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8(B)</a:t>
              </a:r>
            </a:p>
          </p:txBody>
        </p:sp>
      </p:grpSp>
      <p:grpSp>
        <p:nvGrpSpPr>
          <p:cNvPr id="426" name="Group 10"/>
          <p:cNvGrpSpPr/>
          <p:nvPr/>
        </p:nvGrpSpPr>
        <p:grpSpPr>
          <a:xfrm>
            <a:off x="977740" y="3315741"/>
            <a:ext cx="508163" cy="543813"/>
            <a:chOff x="0" y="0"/>
            <a:chExt cx="508162" cy="543811"/>
          </a:xfrm>
        </p:grpSpPr>
        <p:sp>
          <p:nvSpPr>
            <p:cNvPr id="424" name="Freeform 11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25" name="TextBox 12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429" name="Group 13"/>
          <p:cNvGrpSpPr/>
          <p:nvPr/>
        </p:nvGrpSpPr>
        <p:grpSpPr>
          <a:xfrm>
            <a:off x="977740" y="1982346"/>
            <a:ext cx="508163" cy="543812"/>
            <a:chOff x="0" y="0"/>
            <a:chExt cx="508162" cy="543811"/>
          </a:xfrm>
        </p:grpSpPr>
        <p:sp>
          <p:nvSpPr>
            <p:cNvPr id="427" name="Freeform 14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28" name="TextBox 15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432" name="Group 16"/>
          <p:cNvGrpSpPr/>
          <p:nvPr/>
        </p:nvGrpSpPr>
        <p:grpSpPr>
          <a:xfrm>
            <a:off x="977740" y="3983372"/>
            <a:ext cx="508163" cy="543813"/>
            <a:chOff x="0" y="0"/>
            <a:chExt cx="508162" cy="543811"/>
          </a:xfrm>
        </p:grpSpPr>
        <p:sp>
          <p:nvSpPr>
            <p:cNvPr id="430" name="Freeform 17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31" name="TextBox 18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435" name="Group 19"/>
          <p:cNvGrpSpPr/>
          <p:nvPr/>
        </p:nvGrpSpPr>
        <p:grpSpPr>
          <a:xfrm>
            <a:off x="977740" y="2648110"/>
            <a:ext cx="508163" cy="543811"/>
            <a:chOff x="0" y="-1"/>
            <a:chExt cx="508162" cy="543810"/>
          </a:xfrm>
        </p:grpSpPr>
        <p:sp>
          <p:nvSpPr>
            <p:cNvPr id="433" name="Freeform 20"/>
            <p:cNvSpPr/>
            <p:nvPr/>
          </p:nvSpPr>
          <p:spPr>
            <a:xfrm>
              <a:off x="-1" y="-2"/>
              <a:ext cx="508163" cy="543811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34" name="TextBox 21"/>
            <p:cNvSpPr txBox="1"/>
            <p:nvPr/>
          </p:nvSpPr>
          <p:spPr>
            <a:xfrm>
              <a:off x="47639" y="70503"/>
              <a:ext cx="412882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438" name="Group 22"/>
          <p:cNvGrpSpPr/>
          <p:nvPr/>
        </p:nvGrpSpPr>
        <p:grpSpPr>
          <a:xfrm>
            <a:off x="977740" y="5318632"/>
            <a:ext cx="508163" cy="543813"/>
            <a:chOff x="0" y="0"/>
            <a:chExt cx="508162" cy="543811"/>
          </a:xfrm>
        </p:grpSpPr>
        <p:sp>
          <p:nvSpPr>
            <p:cNvPr id="436" name="Freeform 23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37" name="TextBox 24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441" name="Group 25"/>
          <p:cNvGrpSpPr/>
          <p:nvPr/>
        </p:nvGrpSpPr>
        <p:grpSpPr>
          <a:xfrm>
            <a:off x="977740" y="4651001"/>
            <a:ext cx="508163" cy="543813"/>
            <a:chOff x="0" y="0"/>
            <a:chExt cx="508162" cy="543811"/>
          </a:xfrm>
        </p:grpSpPr>
        <p:sp>
          <p:nvSpPr>
            <p:cNvPr id="439" name="Freeform 26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40" name="TextBox 27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444" name="Group 28"/>
          <p:cNvGrpSpPr/>
          <p:nvPr/>
        </p:nvGrpSpPr>
        <p:grpSpPr>
          <a:xfrm>
            <a:off x="977740" y="5986263"/>
            <a:ext cx="508163" cy="543813"/>
            <a:chOff x="0" y="0"/>
            <a:chExt cx="508162" cy="543811"/>
          </a:xfrm>
        </p:grpSpPr>
        <p:sp>
          <p:nvSpPr>
            <p:cNvPr id="442" name="Freeform 29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43" name="TextBox 30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447" name="Group 31"/>
          <p:cNvGrpSpPr/>
          <p:nvPr/>
        </p:nvGrpSpPr>
        <p:grpSpPr>
          <a:xfrm>
            <a:off x="977740" y="7760843"/>
            <a:ext cx="508163" cy="543813"/>
            <a:chOff x="0" y="0"/>
            <a:chExt cx="508162" cy="543811"/>
          </a:xfrm>
        </p:grpSpPr>
        <p:sp>
          <p:nvSpPr>
            <p:cNvPr id="445" name="Freeform 32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46" name="TextBox 33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448" name="Freeform 34"/>
          <p:cNvSpPr/>
          <p:nvPr/>
        </p:nvSpPr>
        <p:spPr>
          <a:xfrm>
            <a:off x="16313419" y="1028699"/>
            <a:ext cx="945883" cy="23647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49" name="Freeform 36"/>
          <p:cNvSpPr/>
          <p:nvPr/>
        </p:nvSpPr>
        <p:spPr>
          <a:xfrm>
            <a:off x="17170669" y="-178580"/>
            <a:ext cx="10994427" cy="10994426"/>
          </a:xfrm>
          <a:prstGeom prst="ellipse">
            <a:avLst/>
          </a:prstGeom>
          <a:ln w="514350" cap="sq">
            <a:solidFill>
              <a:srgbClr val="FD6220">
                <a:alpha val="11765"/>
              </a:srgbClr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50" name="TextBox 42"/>
          <p:cNvSpPr txBox="1"/>
          <p:nvPr/>
        </p:nvSpPr>
        <p:spPr>
          <a:xfrm>
            <a:off x="198118" y="342899"/>
            <a:ext cx="17815564" cy="764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IMPLEMENTATION SCREENSHOTS</a:t>
            </a:r>
          </a:p>
        </p:txBody>
      </p:sp>
      <p:pic>
        <p:nvPicPr>
          <p:cNvPr id="451" name="Screenshot 2026-03-26 at 9.01.05 AM.png" descr="Screenshot 2026-03-26 at 9.01.05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99818" y="2717800"/>
            <a:ext cx="4851401" cy="4851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2" name="Screenshot 2026-03-26 at 9.01.14 AM.png" descr="Screenshot 2026-03-26 at 9.01.14 A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128042" y="2717800"/>
            <a:ext cx="4851401" cy="4851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6" name="Group 7"/>
          <p:cNvGrpSpPr/>
          <p:nvPr/>
        </p:nvGrpSpPr>
        <p:grpSpPr>
          <a:xfrm>
            <a:off x="735587" y="6653893"/>
            <a:ext cx="992469" cy="992471"/>
            <a:chOff x="0" y="0"/>
            <a:chExt cx="992468" cy="992470"/>
          </a:xfrm>
        </p:grpSpPr>
        <p:sp>
          <p:nvSpPr>
            <p:cNvPr id="454" name="Freeform 8"/>
            <p:cNvSpPr/>
            <p:nvPr/>
          </p:nvSpPr>
          <p:spPr>
            <a:xfrm>
              <a:off x="0" y="-1"/>
              <a:ext cx="992469" cy="992472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55" name="TextBox 9"/>
            <p:cNvSpPr txBox="1"/>
            <p:nvPr/>
          </p:nvSpPr>
          <p:spPr>
            <a:xfrm>
              <a:off x="93043" y="187530"/>
              <a:ext cx="806380" cy="547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b="1" sz="240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8(C)</a:t>
              </a:r>
            </a:p>
          </p:txBody>
        </p:sp>
      </p:grpSp>
      <p:grpSp>
        <p:nvGrpSpPr>
          <p:cNvPr id="459" name="Group 10"/>
          <p:cNvGrpSpPr/>
          <p:nvPr/>
        </p:nvGrpSpPr>
        <p:grpSpPr>
          <a:xfrm>
            <a:off x="977740" y="3315741"/>
            <a:ext cx="508163" cy="543813"/>
            <a:chOff x="0" y="0"/>
            <a:chExt cx="508162" cy="543811"/>
          </a:xfrm>
        </p:grpSpPr>
        <p:sp>
          <p:nvSpPr>
            <p:cNvPr id="457" name="Freeform 11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58" name="TextBox 12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462" name="Group 13"/>
          <p:cNvGrpSpPr/>
          <p:nvPr/>
        </p:nvGrpSpPr>
        <p:grpSpPr>
          <a:xfrm>
            <a:off x="977740" y="1982346"/>
            <a:ext cx="508163" cy="543812"/>
            <a:chOff x="0" y="0"/>
            <a:chExt cx="508162" cy="543811"/>
          </a:xfrm>
        </p:grpSpPr>
        <p:sp>
          <p:nvSpPr>
            <p:cNvPr id="460" name="Freeform 14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61" name="TextBox 15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465" name="Group 16"/>
          <p:cNvGrpSpPr/>
          <p:nvPr/>
        </p:nvGrpSpPr>
        <p:grpSpPr>
          <a:xfrm>
            <a:off x="977740" y="3983372"/>
            <a:ext cx="508163" cy="543813"/>
            <a:chOff x="0" y="0"/>
            <a:chExt cx="508162" cy="543811"/>
          </a:xfrm>
        </p:grpSpPr>
        <p:sp>
          <p:nvSpPr>
            <p:cNvPr id="463" name="Freeform 17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64" name="TextBox 18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468" name="Group 19"/>
          <p:cNvGrpSpPr/>
          <p:nvPr/>
        </p:nvGrpSpPr>
        <p:grpSpPr>
          <a:xfrm>
            <a:off x="977740" y="2648110"/>
            <a:ext cx="508163" cy="543811"/>
            <a:chOff x="0" y="-1"/>
            <a:chExt cx="508162" cy="543810"/>
          </a:xfrm>
        </p:grpSpPr>
        <p:sp>
          <p:nvSpPr>
            <p:cNvPr id="466" name="Freeform 20"/>
            <p:cNvSpPr/>
            <p:nvPr/>
          </p:nvSpPr>
          <p:spPr>
            <a:xfrm>
              <a:off x="-1" y="-2"/>
              <a:ext cx="508163" cy="543811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67" name="TextBox 21"/>
            <p:cNvSpPr txBox="1"/>
            <p:nvPr/>
          </p:nvSpPr>
          <p:spPr>
            <a:xfrm>
              <a:off x="47639" y="70503"/>
              <a:ext cx="412882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471" name="Group 22"/>
          <p:cNvGrpSpPr/>
          <p:nvPr/>
        </p:nvGrpSpPr>
        <p:grpSpPr>
          <a:xfrm>
            <a:off x="977740" y="5318632"/>
            <a:ext cx="508163" cy="543813"/>
            <a:chOff x="0" y="0"/>
            <a:chExt cx="508162" cy="543811"/>
          </a:xfrm>
        </p:grpSpPr>
        <p:sp>
          <p:nvSpPr>
            <p:cNvPr id="469" name="Freeform 23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70" name="TextBox 24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474" name="Group 25"/>
          <p:cNvGrpSpPr/>
          <p:nvPr/>
        </p:nvGrpSpPr>
        <p:grpSpPr>
          <a:xfrm>
            <a:off x="977740" y="4651001"/>
            <a:ext cx="508163" cy="543813"/>
            <a:chOff x="0" y="0"/>
            <a:chExt cx="508162" cy="543811"/>
          </a:xfrm>
        </p:grpSpPr>
        <p:sp>
          <p:nvSpPr>
            <p:cNvPr id="472" name="Freeform 26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73" name="TextBox 27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477" name="Group 28"/>
          <p:cNvGrpSpPr/>
          <p:nvPr/>
        </p:nvGrpSpPr>
        <p:grpSpPr>
          <a:xfrm>
            <a:off x="977740" y="5986263"/>
            <a:ext cx="508163" cy="543813"/>
            <a:chOff x="0" y="0"/>
            <a:chExt cx="508162" cy="543811"/>
          </a:xfrm>
        </p:grpSpPr>
        <p:sp>
          <p:nvSpPr>
            <p:cNvPr id="475" name="Freeform 29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76" name="TextBox 30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480" name="Group 31"/>
          <p:cNvGrpSpPr/>
          <p:nvPr/>
        </p:nvGrpSpPr>
        <p:grpSpPr>
          <a:xfrm>
            <a:off x="977740" y="7760843"/>
            <a:ext cx="508163" cy="543813"/>
            <a:chOff x="0" y="0"/>
            <a:chExt cx="508162" cy="543811"/>
          </a:xfrm>
        </p:grpSpPr>
        <p:sp>
          <p:nvSpPr>
            <p:cNvPr id="478" name="Freeform 32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79" name="TextBox 33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481" name="Freeform 34"/>
          <p:cNvSpPr/>
          <p:nvPr/>
        </p:nvSpPr>
        <p:spPr>
          <a:xfrm>
            <a:off x="16313419" y="1028699"/>
            <a:ext cx="945883" cy="23647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82" name="Freeform 36"/>
          <p:cNvSpPr/>
          <p:nvPr/>
        </p:nvSpPr>
        <p:spPr>
          <a:xfrm>
            <a:off x="17170669" y="-178580"/>
            <a:ext cx="10994427" cy="10994426"/>
          </a:xfrm>
          <a:prstGeom prst="ellipse">
            <a:avLst/>
          </a:prstGeom>
          <a:ln w="514350" cap="sq">
            <a:solidFill>
              <a:srgbClr val="FD6220">
                <a:alpha val="11765"/>
              </a:srgbClr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83" name="TextBox 42"/>
          <p:cNvSpPr txBox="1"/>
          <p:nvPr/>
        </p:nvSpPr>
        <p:spPr>
          <a:xfrm>
            <a:off x="198118" y="342899"/>
            <a:ext cx="17815564" cy="764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IMPLEMENTATION SCREENSHOTS</a:t>
            </a:r>
          </a:p>
        </p:txBody>
      </p:sp>
      <p:pic>
        <p:nvPicPr>
          <p:cNvPr id="484" name="Screenshot 2026-03-26 at 9.06.05 AM.png" descr="Screenshot 2026-03-26 at 9.06.05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250085" y="2286345"/>
            <a:ext cx="15282265" cy="633965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8" name="Group 5"/>
          <p:cNvGrpSpPr/>
          <p:nvPr/>
        </p:nvGrpSpPr>
        <p:grpSpPr>
          <a:xfrm>
            <a:off x="735587" y="7321525"/>
            <a:ext cx="992469" cy="992471"/>
            <a:chOff x="0" y="0"/>
            <a:chExt cx="992468" cy="992470"/>
          </a:xfrm>
        </p:grpSpPr>
        <p:sp>
          <p:nvSpPr>
            <p:cNvPr id="486" name="Freeform 6"/>
            <p:cNvSpPr/>
            <p:nvPr/>
          </p:nvSpPr>
          <p:spPr>
            <a:xfrm>
              <a:off x="0" y="-1"/>
              <a:ext cx="992469" cy="992472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87" name="TextBox 7"/>
            <p:cNvSpPr txBox="1"/>
            <p:nvPr/>
          </p:nvSpPr>
          <p:spPr>
            <a:xfrm>
              <a:off x="93043" y="183149"/>
              <a:ext cx="806380" cy="556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grpSp>
        <p:nvGrpSpPr>
          <p:cNvPr id="491" name="Group 8"/>
          <p:cNvGrpSpPr/>
          <p:nvPr/>
        </p:nvGrpSpPr>
        <p:grpSpPr>
          <a:xfrm>
            <a:off x="977740" y="3315741"/>
            <a:ext cx="508163" cy="543813"/>
            <a:chOff x="0" y="0"/>
            <a:chExt cx="508162" cy="543811"/>
          </a:xfrm>
        </p:grpSpPr>
        <p:sp>
          <p:nvSpPr>
            <p:cNvPr id="489" name="Freeform 9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90" name="TextBox 10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494" name="Group 11"/>
          <p:cNvGrpSpPr/>
          <p:nvPr/>
        </p:nvGrpSpPr>
        <p:grpSpPr>
          <a:xfrm>
            <a:off x="977740" y="1982346"/>
            <a:ext cx="508163" cy="543812"/>
            <a:chOff x="0" y="0"/>
            <a:chExt cx="508162" cy="543811"/>
          </a:xfrm>
        </p:grpSpPr>
        <p:sp>
          <p:nvSpPr>
            <p:cNvPr id="492" name="Freeform 12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93" name="TextBox 13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497" name="Group 14"/>
          <p:cNvGrpSpPr/>
          <p:nvPr/>
        </p:nvGrpSpPr>
        <p:grpSpPr>
          <a:xfrm>
            <a:off x="977740" y="3983372"/>
            <a:ext cx="508163" cy="543813"/>
            <a:chOff x="0" y="0"/>
            <a:chExt cx="508162" cy="543811"/>
          </a:xfrm>
        </p:grpSpPr>
        <p:sp>
          <p:nvSpPr>
            <p:cNvPr id="495" name="Freeform 15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96" name="TextBox 16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500" name="Group 17"/>
          <p:cNvGrpSpPr/>
          <p:nvPr/>
        </p:nvGrpSpPr>
        <p:grpSpPr>
          <a:xfrm>
            <a:off x="977740" y="2648110"/>
            <a:ext cx="508163" cy="543811"/>
            <a:chOff x="0" y="-1"/>
            <a:chExt cx="508162" cy="543810"/>
          </a:xfrm>
        </p:grpSpPr>
        <p:sp>
          <p:nvSpPr>
            <p:cNvPr id="498" name="Freeform 18"/>
            <p:cNvSpPr/>
            <p:nvPr/>
          </p:nvSpPr>
          <p:spPr>
            <a:xfrm>
              <a:off x="-1" y="-2"/>
              <a:ext cx="508163" cy="543811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499" name="TextBox 19"/>
            <p:cNvSpPr txBox="1"/>
            <p:nvPr/>
          </p:nvSpPr>
          <p:spPr>
            <a:xfrm>
              <a:off x="47639" y="70503"/>
              <a:ext cx="412882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503" name="Group 20"/>
          <p:cNvGrpSpPr/>
          <p:nvPr/>
        </p:nvGrpSpPr>
        <p:grpSpPr>
          <a:xfrm>
            <a:off x="977740" y="5318632"/>
            <a:ext cx="508163" cy="543813"/>
            <a:chOff x="0" y="0"/>
            <a:chExt cx="508162" cy="543811"/>
          </a:xfrm>
        </p:grpSpPr>
        <p:sp>
          <p:nvSpPr>
            <p:cNvPr id="501" name="Freeform 21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502" name="TextBox 22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506" name="Group 23"/>
          <p:cNvGrpSpPr/>
          <p:nvPr/>
        </p:nvGrpSpPr>
        <p:grpSpPr>
          <a:xfrm>
            <a:off x="977740" y="4651001"/>
            <a:ext cx="508163" cy="543813"/>
            <a:chOff x="0" y="0"/>
            <a:chExt cx="508162" cy="543811"/>
          </a:xfrm>
        </p:grpSpPr>
        <p:sp>
          <p:nvSpPr>
            <p:cNvPr id="504" name="Freeform 24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505" name="TextBox 25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509" name="Group 26"/>
          <p:cNvGrpSpPr/>
          <p:nvPr/>
        </p:nvGrpSpPr>
        <p:grpSpPr>
          <a:xfrm>
            <a:off x="977740" y="5986263"/>
            <a:ext cx="508163" cy="543813"/>
            <a:chOff x="0" y="0"/>
            <a:chExt cx="508162" cy="543811"/>
          </a:xfrm>
        </p:grpSpPr>
        <p:sp>
          <p:nvSpPr>
            <p:cNvPr id="507" name="Freeform 27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508" name="TextBox 28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512" name="Group 29"/>
          <p:cNvGrpSpPr/>
          <p:nvPr/>
        </p:nvGrpSpPr>
        <p:grpSpPr>
          <a:xfrm>
            <a:off x="977740" y="6653892"/>
            <a:ext cx="508163" cy="543813"/>
            <a:chOff x="0" y="0"/>
            <a:chExt cx="508162" cy="543811"/>
          </a:xfrm>
        </p:grpSpPr>
        <p:sp>
          <p:nvSpPr>
            <p:cNvPr id="510" name="Freeform 30"/>
            <p:cNvSpPr/>
            <p:nvPr/>
          </p:nvSpPr>
          <p:spPr>
            <a:xfrm>
              <a:off x="-1" y="-1"/>
              <a:ext cx="508163" cy="543812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511" name="TextBox 31"/>
            <p:cNvSpPr txBox="1"/>
            <p:nvPr/>
          </p:nvSpPr>
          <p:spPr>
            <a:xfrm>
              <a:off x="47639" y="70503"/>
              <a:ext cx="412882" cy="384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</a:t>
              </a:r>
            </a:p>
          </p:txBody>
        </p:sp>
      </p:grpSp>
      <p:sp>
        <p:nvSpPr>
          <p:cNvPr id="513" name="Freeform 32"/>
          <p:cNvSpPr/>
          <p:nvPr/>
        </p:nvSpPr>
        <p:spPr>
          <a:xfrm>
            <a:off x="16313419" y="1028699"/>
            <a:ext cx="945883" cy="23647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14" name="Freeform 45"/>
          <p:cNvSpPr/>
          <p:nvPr/>
        </p:nvSpPr>
        <p:spPr>
          <a:xfrm>
            <a:off x="16786358" y="-353713"/>
            <a:ext cx="10994427" cy="10994426"/>
          </a:xfrm>
          <a:prstGeom prst="ellipse">
            <a:avLst/>
          </a:prstGeom>
          <a:ln w="619125" cap="sq">
            <a:solidFill>
              <a:srgbClr val="FD6220">
                <a:alpha val="11765"/>
              </a:srgbClr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15" name="TextBox 1"/>
          <p:cNvSpPr txBox="1"/>
          <p:nvPr/>
        </p:nvSpPr>
        <p:spPr>
          <a:xfrm>
            <a:off x="236218" y="290492"/>
            <a:ext cx="17815564" cy="764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ADVANTAGES &amp; LIMITATIONS</a:t>
            </a:r>
          </a:p>
        </p:txBody>
      </p:sp>
      <p:sp>
        <p:nvSpPr>
          <p:cNvPr id="516" name="Advantages:…"/>
          <p:cNvSpPr txBox="1"/>
          <p:nvPr/>
        </p:nvSpPr>
        <p:spPr>
          <a:xfrm>
            <a:off x="2904957" y="2568349"/>
            <a:ext cx="11748220" cy="4268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Advantages:</a:t>
            </a:r>
          </a:p>
          <a:p>
            <a:pPr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➤ Centralized inventory management</a:t>
            </a:r>
            <a:br/>
            <a:r>
              <a:t>➤ Real-time stock updates</a:t>
            </a:r>
            <a:br/>
            <a:r>
              <a:t>➤ Reduces human errors</a:t>
            </a:r>
            <a:br/>
            <a:r>
              <a:t>➤ Improves decision making</a:t>
            </a:r>
            <a:br/>
            <a:r>
              <a:t>➤ Saves time and cost</a:t>
            </a:r>
            <a:br/>
            <a:r>
              <a:t>➤ Secure data storage</a:t>
            </a:r>
          </a:p>
          <a:p>
            <a:pPr>
              <a:defRPr b="1"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Limitations:</a:t>
            </a:r>
          </a:p>
          <a:p>
            <a:pPr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➤ Requires internet connection</a:t>
            </a:r>
            <a:br/>
            <a:r>
              <a:t>➤ Initial setup cost</a:t>
            </a:r>
            <a:br/>
            <a:r>
              <a:t>➤ Training required for staff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Freeform 32"/>
          <p:cNvSpPr/>
          <p:nvPr/>
        </p:nvSpPr>
        <p:spPr>
          <a:xfrm>
            <a:off x="16313419" y="1028699"/>
            <a:ext cx="945883" cy="23647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19" name="TextBox 43"/>
          <p:cNvSpPr txBox="1"/>
          <p:nvPr/>
        </p:nvSpPr>
        <p:spPr>
          <a:xfrm>
            <a:off x="3200400" y="4486171"/>
            <a:ext cx="11159653" cy="13503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0100"/>
              </a:lnSpc>
              <a:defRPr b="1" i="1" sz="1110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520" name="Freeform 45"/>
          <p:cNvSpPr/>
          <p:nvPr/>
        </p:nvSpPr>
        <p:spPr>
          <a:xfrm>
            <a:off x="16786358" y="-353713"/>
            <a:ext cx="10994427" cy="10994426"/>
          </a:xfrm>
          <a:prstGeom prst="ellipse">
            <a:avLst/>
          </a:prstGeom>
          <a:ln w="619125" cap="sq">
            <a:solidFill>
              <a:srgbClr val="FD6220">
                <a:alpha val="11765"/>
              </a:srgbClr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