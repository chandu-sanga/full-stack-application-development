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8" d="100"/>
          <a:sy n="48" d="100"/>
        </p:scale>
        <p:origin x="29" y="77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9671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967544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492358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28530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547715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040958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620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131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519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BA3EFF-1ACE-1F7B-671F-2B20E1B81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448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7052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6366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F7D30F-3BF1-F8A2-757D-434CFBD851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528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677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82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E293C5-9511-8F80-BAD1-AF6A8B4AAC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604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8641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53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A0530D-9873-B66A-1DA4-3EC2090D59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469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3246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531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B7A9F0-6266-13E1-5701-20E61D6EDA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183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6959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3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4677EA-5DC6-4E6B-29F8-0ED262D71C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799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8470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344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31B8E3-8B22-04A4-8DCC-E78BA2E191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235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683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736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506709-B574-61A2-FFDB-26364C8E54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77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776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8421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F6A1EA-BC29-1783-5DC7-75F1718E9F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816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402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429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B24866-EB17-9A4A-20EA-9DDF172EB2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079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806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882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3282AB-F85B-054E-E196-2EF353CDA1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850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759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92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16F4F-098E-DA5D-7590-DC16B9FA10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024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495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441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F9EA5C-8912-6A7C-1C34-1102899DC2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489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9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9940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D8A85F-C2F6-78BB-5DFF-78AC5AEE76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516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483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98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7EBDFF-B3C3-03A1-E168-134C54D5E9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48297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925742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645275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21389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177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212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61533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005135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18708920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09582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8377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36144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59538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629687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91649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106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155552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942363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624442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21307766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9762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1750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468466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01381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2679218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16641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59138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21750402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420628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866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7048822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4036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66370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213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6961011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57556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84628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4836036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309161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19712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11165030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7045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69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2665655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965290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27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12224423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98875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6230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295152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00443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2691367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2194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8062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280326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761861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325393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64393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79426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950255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927507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3709719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86960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236608" name="Group 10"/>
          <p:cNvGrpSpPr/>
          <p:nvPr/>
        </p:nvGrpSpPr>
        <p:grpSpPr bwMode="auto"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778245517" name="Group 19"/>
          <p:cNvGrpSpPr/>
          <p:nvPr/>
        </p:nvGrpSpPr>
        <p:grpSpPr bwMode="auto"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pic>
        <p:nvPicPr>
          <p:cNvPr id="656910825" name="Picture 2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395251960" name="TextBox 23"/>
          <p:cNvSpPr txBox="1"/>
          <p:nvPr/>
        </p:nvSpPr>
        <p:spPr bwMode="auto"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b="1">
                <a:latin typeface="Cambria"/>
                <a:ea typeface="Cambria"/>
              </a:rPr>
              <a:t>Vel Tech Rangarajan Dr. Sagunthala R&amp;D Institute of Science and Technology</a:t>
            </a:r>
            <a:endParaRPr/>
          </a:p>
          <a:p>
            <a:pPr algn="ctr">
              <a:defRPr/>
            </a:pPr>
            <a:r>
              <a:rPr lang="en-US" sz="3600" b="1">
                <a:latin typeface="Cambria"/>
                <a:ea typeface="Cambria"/>
              </a:rPr>
              <a:t>School of Computing </a:t>
            </a:r>
            <a:endParaRPr/>
          </a:p>
          <a:p>
            <a:pPr algn="ctr">
              <a:defRPr/>
            </a:pPr>
            <a:r>
              <a:rPr lang="en-US" sz="3200" b="1">
                <a:latin typeface="Cambria"/>
                <a:ea typeface="Cambria"/>
              </a:rPr>
              <a:t>Department of Computer Science and Engineering</a:t>
            </a:r>
            <a:endParaRPr lang="en-IN" sz="3200" b="1">
              <a:latin typeface="Cambria"/>
              <a:ea typeface="Cambria"/>
            </a:endParaRPr>
          </a:p>
        </p:txBody>
      </p:sp>
      <p:sp>
        <p:nvSpPr>
          <p:cNvPr id="1982955381" name="TextBox 25"/>
          <p:cNvSpPr txBox="1"/>
          <p:nvPr/>
        </p:nvSpPr>
        <p:spPr bwMode="auto"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>
                <a:solidFill>
                  <a:srgbClr val="0033CC"/>
                </a:solidFill>
                <a:latin typeface="Bookman Old Style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/>
            </a:endParaRPr>
          </a:p>
        </p:txBody>
      </p:sp>
      <p:sp>
        <p:nvSpPr>
          <p:cNvPr id="1770400217" name="TextBox 26"/>
          <p:cNvSpPr txBox="1"/>
          <p:nvPr/>
        </p:nvSpPr>
        <p:spPr bwMode="auto">
          <a:xfrm>
            <a:off x="3727756" y="3897939"/>
            <a:ext cx="11196768" cy="1737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3600" b="1">
                <a:solidFill>
                  <a:srgbClr val="C00000"/>
                </a:solidFill>
                <a:latin typeface="Arial"/>
                <a:cs typeface="Arial"/>
              </a:rPr>
              <a:t>PROJECT REVIEW : MILESTONE PROJECT – 1</a:t>
            </a:r>
            <a:endParaRPr/>
          </a:p>
          <a:p>
            <a:pPr algn="ctr">
              <a:defRPr/>
            </a:pPr>
            <a:endParaRPr lang="en-IN" sz="3600" b="1">
              <a:solidFill>
                <a:srgbClr val="C00000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IN" sz="3600" b="1">
                <a:solidFill>
                  <a:srgbClr val="C00000"/>
                </a:solidFill>
                <a:latin typeface="Arial"/>
                <a:cs typeface="Arial"/>
              </a:rPr>
              <a:t>Date: </a:t>
            </a:r>
            <a:r>
              <a:rPr lang="en-US" sz="3600" b="1">
                <a:solidFill>
                  <a:srgbClr val="C00000"/>
                </a:solidFill>
                <a:latin typeface="Arial"/>
                <a:cs typeface="Arial"/>
              </a:rPr>
              <a:t>02</a:t>
            </a:r>
            <a:r>
              <a:rPr lang="en-IN" sz="3600" b="1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lang="en-US" sz="3600" b="1">
                <a:solidFill>
                  <a:srgbClr val="C00000"/>
                </a:solidFill>
                <a:latin typeface="Arial"/>
                <a:cs typeface="Arial"/>
              </a:rPr>
              <a:t>03</a:t>
            </a:r>
            <a:r>
              <a:rPr lang="en-IN" sz="3600" b="1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lang="en-US" sz="3600" b="1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/>
          </a:p>
        </p:txBody>
      </p:sp>
      <p:sp>
        <p:nvSpPr>
          <p:cNvPr id="1296283077" name="TextBox 12"/>
          <p:cNvSpPr txBox="1"/>
          <p:nvPr/>
        </p:nvSpPr>
        <p:spPr bwMode="auto">
          <a:xfrm>
            <a:off x="1501639" y="6057900"/>
            <a:ext cx="15785961" cy="155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8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 Inventory Control &amp; Stock Tracking System</a:t>
            </a:r>
            <a:endParaRPr sz="4800" b="1">
              <a:latin typeface="Times New Roman"/>
              <a:cs typeface="Times New Roman"/>
            </a:endParaRPr>
          </a:p>
          <a:p>
            <a:pPr>
              <a:defRPr/>
            </a:pPr>
            <a:endParaRPr sz="4800" b="1">
              <a:latin typeface="Times New Roman"/>
              <a:cs typeface="Times New Roman"/>
            </a:endParaRPr>
          </a:p>
        </p:txBody>
      </p:sp>
      <p:sp>
        <p:nvSpPr>
          <p:cNvPr id="945664836" name="TextBox 13"/>
          <p:cNvSpPr txBox="1"/>
          <p:nvPr/>
        </p:nvSpPr>
        <p:spPr bwMode="auto">
          <a:xfrm>
            <a:off x="893868" y="7800537"/>
            <a:ext cx="9072478" cy="2349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63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>
                <a:latin typeface="Cambria"/>
                <a:ea typeface="Cambria"/>
              </a:rPr>
              <a:t>Presented By:</a:t>
            </a:r>
            <a:br>
              <a:rPr lang="en-US" sz="30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</a:br>
            <a:r>
              <a:rPr lang="en-US" sz="24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SANGA CHANDU  </a:t>
            </a:r>
            <a:br>
              <a:rPr lang="en-US" sz="24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</a:br>
            <a:r>
              <a:rPr lang="en-US" sz="24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VTU2</a:t>
            </a:r>
            <a:r>
              <a:rPr lang="en-US" sz="24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7286</a:t>
            </a:r>
            <a:br>
              <a:rPr lang="en-US" sz="24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</a:br>
            <a:r>
              <a:rPr lang="en-US" sz="24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Reg.No.</a:t>
            </a:r>
            <a:r>
              <a:rPr lang="en-US" sz="2400" b="1" i="0" u="none" strike="noStrike" cap="none" spc="-14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23UECS0505</a:t>
            </a:r>
            <a:endParaRPr sz="3000"/>
          </a:p>
          <a:p>
            <a:pPr>
              <a:lnSpc>
                <a:spcPct val="150000"/>
              </a:lnSpc>
              <a:defRPr/>
            </a:pPr>
            <a:endParaRPr/>
          </a:p>
        </p:txBody>
      </p:sp>
      <p:sp>
        <p:nvSpPr>
          <p:cNvPr id="710304047" name="TextBox 14"/>
          <p:cNvSpPr txBox="1"/>
          <p:nvPr/>
        </p:nvSpPr>
        <p:spPr bwMode="auto">
          <a:xfrm>
            <a:off x="10945035" y="7818584"/>
            <a:ext cx="6916761" cy="146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000" b="1">
                <a:latin typeface="Cambria"/>
                <a:ea typeface="Cambria"/>
              </a:rPr>
              <a:t>Courses Handling Faculty:</a:t>
            </a:r>
            <a:br>
              <a:rPr lang="en-US" sz="30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</a:br>
            <a:r>
              <a:rPr lang="en-US" sz="30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Dr. S. Hemamalini</a:t>
            </a:r>
            <a:r>
              <a:rPr sz="2250" b="1" i="0" u="none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-M.E., Ph.D.,</a:t>
            </a:r>
            <a:endParaRPr/>
          </a:p>
        </p:txBody>
      </p:sp>
      <p:sp>
        <p:nvSpPr>
          <p:cNvPr id="1845091945" name="TextBox 15"/>
          <p:cNvSpPr txBox="1"/>
          <p:nvPr/>
        </p:nvSpPr>
        <p:spPr bwMode="auto">
          <a:xfrm>
            <a:off x="1750558" y="7057344"/>
            <a:ext cx="14743890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SDG: SDG No –4 ( Quality Education)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593530" name="Freeform 8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1332952882" name="Group 9"/>
          <p:cNvGrpSpPr/>
          <p:nvPr/>
        </p:nvGrpSpPr>
        <p:grpSpPr bwMode="auto"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154170318" name="Group 12"/>
          <p:cNvGrpSpPr/>
          <p:nvPr/>
        </p:nvGrpSpPr>
        <p:grpSpPr bwMode="auto"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822014215" name="Group 15"/>
          <p:cNvGrpSpPr/>
          <p:nvPr/>
        </p:nvGrpSpPr>
        <p:grpSpPr bwMode="auto"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200642074" name="Group 18"/>
          <p:cNvGrpSpPr/>
          <p:nvPr/>
        </p:nvGrpSpPr>
        <p:grpSpPr bwMode="auto"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577615838" name="Group 21"/>
          <p:cNvGrpSpPr/>
          <p:nvPr/>
        </p:nvGrpSpPr>
        <p:grpSpPr bwMode="auto"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518362145" name="Group 24"/>
          <p:cNvGrpSpPr/>
          <p:nvPr/>
        </p:nvGrpSpPr>
        <p:grpSpPr bwMode="auto"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603537137" name="Group 27"/>
          <p:cNvGrpSpPr/>
          <p:nvPr/>
        </p:nvGrpSpPr>
        <p:grpSpPr bwMode="auto"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875531077" name="Group 36"/>
          <p:cNvGrpSpPr/>
          <p:nvPr/>
        </p:nvGrpSpPr>
        <p:grpSpPr bwMode="auto"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760843763" name="Group 39"/>
          <p:cNvGrpSpPr/>
          <p:nvPr/>
        </p:nvGrpSpPr>
        <p:grpSpPr bwMode="auto"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932568783" name="TextBox 1"/>
          <p:cNvSpPr txBox="1"/>
          <p:nvPr/>
        </p:nvSpPr>
        <p:spPr bwMode="auto"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084025992" name="TextBox 2"/>
          <p:cNvSpPr txBox="1"/>
          <p:nvPr/>
        </p:nvSpPr>
        <p:spPr bwMode="auto">
          <a:xfrm flipH="0" flipV="0">
            <a:off x="1847499" y="3679371"/>
            <a:ext cx="15936330" cy="277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A Relational Inventory Control &amp; Stock Tracking System is a software application used to manage product stock efficiently.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helps businesses track inventory levels, stock movement, and product details in real time.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The system maintains data using a relational database (tables with relationships).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monitors stock-in, stock-out, supplier, and sales information.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reduces human errors in manual inventory management.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provides real-time alerts for low stock levels.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improves accuracy, efficiency, and decision-making.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623626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229722792" name="Group 11"/>
          <p:cNvGrpSpPr/>
          <p:nvPr/>
        </p:nvGrpSpPr>
        <p:grpSpPr bwMode="auto"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827476044" name="Group 14"/>
          <p:cNvGrpSpPr/>
          <p:nvPr/>
        </p:nvGrpSpPr>
        <p:grpSpPr bwMode="auto"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25541163" name="Group 17"/>
          <p:cNvGrpSpPr/>
          <p:nvPr/>
        </p:nvGrpSpPr>
        <p:grpSpPr bwMode="auto"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462343574" name="Group 20"/>
          <p:cNvGrpSpPr/>
          <p:nvPr/>
        </p:nvGrpSpPr>
        <p:grpSpPr bwMode="auto"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265739469" name="Group 23"/>
          <p:cNvGrpSpPr/>
          <p:nvPr/>
        </p:nvGrpSpPr>
        <p:grpSpPr bwMode="auto"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976298012" name="Group 26"/>
          <p:cNvGrpSpPr/>
          <p:nvPr/>
        </p:nvGrpSpPr>
        <p:grpSpPr bwMode="auto"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637163663" name="Group 29"/>
          <p:cNvGrpSpPr/>
          <p:nvPr/>
        </p:nvGrpSpPr>
        <p:grpSpPr bwMode="auto"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582207184" name="Group 36"/>
          <p:cNvGrpSpPr/>
          <p:nvPr/>
        </p:nvGrpSpPr>
        <p:grpSpPr bwMode="auto"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527230309" name="Group 39"/>
          <p:cNvGrpSpPr/>
          <p:nvPr/>
        </p:nvGrpSpPr>
        <p:grpSpPr bwMode="auto"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249768091" name="TextBox 46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048901776" name="TextBox 47"/>
          <p:cNvSpPr txBox="1"/>
          <p:nvPr/>
        </p:nvSpPr>
        <p:spPr bwMode="auto">
          <a:xfrm>
            <a:off x="2022701" y="3169103"/>
            <a:ext cx="15084124" cy="340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Many businesses manage inventory manually using Excel or paper records.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Manual tracking leads to stock miscalculations and data loss.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No real-time stock visibility.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Overstocking increases storage cost.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Understocking leads to customer dissatisfaction.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Difficult to track supplier and sales history.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Lack of reporting and analytics for business decisions.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Therefore, an automated relational inventory system is required.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0206403" name="Group 7"/>
          <p:cNvGrpSpPr/>
          <p:nvPr/>
        </p:nvGrpSpPr>
        <p:grpSpPr bwMode="auto"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817725930" name="Group 10"/>
          <p:cNvGrpSpPr/>
          <p:nvPr/>
        </p:nvGrpSpPr>
        <p:grpSpPr bwMode="auto"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108559075" name="Group 13"/>
          <p:cNvGrpSpPr/>
          <p:nvPr/>
        </p:nvGrpSpPr>
        <p:grpSpPr bwMode="auto"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283433529" name="Group 16"/>
          <p:cNvGrpSpPr/>
          <p:nvPr/>
        </p:nvGrpSpPr>
        <p:grpSpPr bwMode="auto"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918555892" name="Group 19"/>
          <p:cNvGrpSpPr/>
          <p:nvPr/>
        </p:nvGrpSpPr>
        <p:grpSpPr bwMode="auto"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036852233" name="Group 22"/>
          <p:cNvGrpSpPr/>
          <p:nvPr/>
        </p:nvGrpSpPr>
        <p:grpSpPr bwMode="auto"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197658052" name="Group 25"/>
          <p:cNvGrpSpPr/>
          <p:nvPr/>
        </p:nvGrpSpPr>
        <p:grpSpPr bwMode="auto"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826791062" name="Group 41"/>
          <p:cNvGrpSpPr/>
          <p:nvPr/>
        </p:nvGrpSpPr>
        <p:grpSpPr bwMode="auto"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870384588" name="Group 44"/>
          <p:cNvGrpSpPr/>
          <p:nvPr/>
        </p:nvGrpSpPr>
        <p:grpSpPr bwMode="auto"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0533638" name="TextBox 49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795602179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1091869020" name="TextBox 51"/>
          <p:cNvSpPr txBox="1"/>
          <p:nvPr/>
        </p:nvSpPr>
        <p:spPr bwMode="auto">
          <a:xfrm>
            <a:off x="2174454" y="3373209"/>
            <a:ext cx="15084844" cy="2580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Centralize inventory data using relational database.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Automate stock tracking and updates.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Reduce manual errors and duplicate entries.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Provide real-time stock availability.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Generate reports for sales and inventory analysis.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Improve operational efficiency and productivity.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8206105" name="Group 13"/>
          <p:cNvGrpSpPr/>
          <p:nvPr/>
        </p:nvGrpSpPr>
        <p:grpSpPr bwMode="auto"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692790672" name="Group 16"/>
          <p:cNvGrpSpPr/>
          <p:nvPr/>
        </p:nvGrpSpPr>
        <p:grpSpPr bwMode="auto"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204067843" name="Group 19"/>
          <p:cNvGrpSpPr/>
          <p:nvPr/>
        </p:nvGrpSpPr>
        <p:grpSpPr bwMode="auto"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49597253" name="Group 22"/>
          <p:cNvGrpSpPr/>
          <p:nvPr/>
        </p:nvGrpSpPr>
        <p:grpSpPr bwMode="auto"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497754731" name="Group 25"/>
          <p:cNvGrpSpPr/>
          <p:nvPr/>
        </p:nvGrpSpPr>
        <p:grpSpPr bwMode="auto"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417934074" name="Group 28"/>
          <p:cNvGrpSpPr/>
          <p:nvPr/>
        </p:nvGrpSpPr>
        <p:grpSpPr bwMode="auto"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705053137" name="Group 31"/>
          <p:cNvGrpSpPr/>
          <p:nvPr/>
        </p:nvGrpSpPr>
        <p:grpSpPr bwMode="auto"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920212340" name="Group 34"/>
          <p:cNvGrpSpPr/>
          <p:nvPr/>
        </p:nvGrpSpPr>
        <p:grpSpPr bwMode="auto"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350945681" name="Group 37"/>
          <p:cNvGrpSpPr/>
          <p:nvPr/>
        </p:nvGrpSpPr>
        <p:grpSpPr bwMode="auto"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32367730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1575879745" name="TextBox 45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582016345" name="TextBox 47"/>
          <p:cNvSpPr txBox="1"/>
          <p:nvPr/>
        </p:nvSpPr>
        <p:spPr bwMode="auto">
          <a:xfrm>
            <a:off x="2056719" y="3288165"/>
            <a:ext cx="15084124" cy="299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Web-based centralized inventory management system.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Stores products, categories, suppliers, and transactions in relational tables.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Automatically updates stock during sales or purchases.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Low stock alert notification system.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Role-based login (Admin / Staff).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Generates real-time reports and analytics.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Secure authentication and authorization system.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69637696" name="Group 5"/>
          <p:cNvGrpSpPr/>
          <p:nvPr/>
        </p:nvGrpSpPr>
        <p:grpSpPr bwMode="auto"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694637005" name="Group 8"/>
          <p:cNvGrpSpPr/>
          <p:nvPr/>
        </p:nvGrpSpPr>
        <p:grpSpPr bwMode="auto"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58561842" name="Group 11"/>
          <p:cNvGrpSpPr/>
          <p:nvPr/>
        </p:nvGrpSpPr>
        <p:grpSpPr bwMode="auto"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505132706" name="Group 14"/>
          <p:cNvGrpSpPr/>
          <p:nvPr/>
        </p:nvGrpSpPr>
        <p:grpSpPr bwMode="auto"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629105978" name="Group 17"/>
          <p:cNvGrpSpPr/>
          <p:nvPr/>
        </p:nvGrpSpPr>
        <p:grpSpPr bwMode="auto"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756695297" name="Group 20"/>
          <p:cNvGrpSpPr/>
          <p:nvPr/>
        </p:nvGrpSpPr>
        <p:grpSpPr bwMode="auto"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247939187" name="Group 23"/>
          <p:cNvGrpSpPr/>
          <p:nvPr/>
        </p:nvGrpSpPr>
        <p:grpSpPr bwMode="auto"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365659008" name="Group 26"/>
          <p:cNvGrpSpPr/>
          <p:nvPr/>
        </p:nvGrpSpPr>
        <p:grpSpPr bwMode="auto"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99984521" name="Group 29"/>
          <p:cNvGrpSpPr/>
          <p:nvPr/>
        </p:nvGrpSpPr>
        <p:grpSpPr bwMode="auto"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grpSp>
        <p:nvGrpSpPr>
          <p:cNvPr id="1462789052" name="Group 37"/>
          <p:cNvGrpSpPr/>
          <p:nvPr/>
        </p:nvGrpSpPr>
        <p:grpSpPr bwMode="auto"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750222676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210716815" name="TextBox 41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942043076" name="TextBox 42"/>
          <p:cNvSpPr txBox="1"/>
          <p:nvPr/>
        </p:nvSpPr>
        <p:spPr bwMode="auto">
          <a:xfrm>
            <a:off x="1954665" y="2369683"/>
            <a:ext cx="15085924" cy="5242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Input: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User enters product details, supplier details, and transaction data.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Processing: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processes stock-in and stock-out transactions and updates database.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Database: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Relational Database (MySQL) stores: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Products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Suppliers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Customers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Transactions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Users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Output: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Updated stock levels, reports, alerts, and dashboards.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3497532" name="Group 14"/>
          <p:cNvGrpSpPr/>
          <p:nvPr/>
        </p:nvGrpSpPr>
        <p:grpSpPr bwMode="auto"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95577721" name="Group 17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476482217" name="Group 20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46356573" name="Group 23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933952053" name="Group 26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490870363" name="Group 29"/>
          <p:cNvGrpSpPr/>
          <p:nvPr/>
        </p:nvGrpSpPr>
        <p:grpSpPr bwMode="auto"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934736118" name="Group 32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618182824" name="Group 37"/>
          <p:cNvGrpSpPr/>
          <p:nvPr/>
        </p:nvGrpSpPr>
        <p:grpSpPr bwMode="auto"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309452218" name="Group 40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416308530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2052688451" name="TextBox 46"/>
          <p:cNvSpPr txBox="1"/>
          <p:nvPr/>
        </p:nvSpPr>
        <p:spPr bwMode="auto"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44162742" name="TextBox 49"/>
          <p:cNvSpPr txBox="1"/>
          <p:nvPr/>
        </p:nvSpPr>
        <p:spPr bwMode="auto">
          <a:xfrm flipH="0" flipV="0">
            <a:off x="2209798" y="2301874"/>
            <a:ext cx="15102843" cy="5242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[User Login]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[Add / Update Product]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[Stock In (Purchase)]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[Stock Out (Sale)]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[Automatic Stock Update]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[Report Generation]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[Logout]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3545127" name="Group 19"/>
          <p:cNvGrpSpPr/>
          <p:nvPr/>
        </p:nvGrpSpPr>
        <p:grpSpPr bwMode="auto"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947950732" name="Group 22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736611277" name="Group 25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28628786" name="Group 28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314341477" name="Group 31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007604434" name="Group 34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2011304255" name="Group 37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2024033565" name="Group 40"/>
          <p:cNvGrpSpPr/>
          <p:nvPr/>
        </p:nvGrpSpPr>
        <p:grpSpPr bwMode="auto"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281262146" name="Group 43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432823187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934799826" name="TextBox 46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860409073" name="TextBox 47"/>
          <p:cNvSpPr txBox="1"/>
          <p:nvPr/>
        </p:nvSpPr>
        <p:spPr bwMode="auto">
          <a:xfrm>
            <a:off x="2056719" y="2063522"/>
            <a:ext cx="15085924" cy="612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Frontend: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HTML, CSS, JavaScript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Backend: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Java (Spring Boot)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Database: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MySQL (Relational Database)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Tools: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VS Code / Eclipse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MySQL Workbench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Apache Tomcat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Git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Hardware Requirements: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Minimum 4GB RAM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Dual-Core Processor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Windows/Linux OS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3199146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2081953905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350997810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394149019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232703310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020266435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417716416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2022850641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442940153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766461233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1100433352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624484976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884385188" name="TextBox 43"/>
          <p:cNvSpPr txBox="1"/>
          <p:nvPr/>
        </p:nvSpPr>
        <p:spPr bwMode="auto">
          <a:xfrm>
            <a:off x="2209799" y="1638299"/>
            <a:ext cx="15086644" cy="81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1: 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User Management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Admin Login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Role-based Authentication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2: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Product Management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Add Product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Update Product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Delete Product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View Product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3: 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Supplier &amp; Purchase Module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Add Supplier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Record Purchase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Update Stock Automatically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4: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Sales &amp; Billing Module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Record Sales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Reduce Stock Automatically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Generate Invoice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5: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Reporting Module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Stock Report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Sales Report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Low Stock Alert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45218340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217334428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504149818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028002964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418359769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961210828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135349280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859359567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2109382648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338929936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219016231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2604488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468250540" name="TextBox 43"/>
          <p:cNvSpPr txBox="1"/>
          <p:nvPr/>
        </p:nvSpPr>
        <p:spPr bwMode="auto">
          <a:xfrm>
            <a:off x="2209799" y="1638299"/>
            <a:ext cx="1508268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8682720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90736" y="2004419"/>
            <a:ext cx="15797655" cy="5996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8173628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8(A)</a:t>
              </a:r>
              <a:endParaRPr/>
            </a:p>
          </p:txBody>
        </p:sp>
      </p:grpSp>
      <p:grpSp>
        <p:nvGrpSpPr>
          <p:cNvPr id="1319676313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134180101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907357469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581721352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258918195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806392441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929684794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33982025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531067791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1394458472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613289564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2083441223" name="TextBox 43"/>
          <p:cNvSpPr txBox="1"/>
          <p:nvPr/>
        </p:nvSpPr>
        <p:spPr bwMode="auto">
          <a:xfrm>
            <a:off x="2209799" y="1638299"/>
            <a:ext cx="15083404" cy="478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IN" sz="2800"/>
          </a:p>
        </p:txBody>
      </p:sp>
      <p:pic>
        <p:nvPicPr>
          <p:cNvPr id="21223196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946718" y="2171295"/>
            <a:ext cx="15239999" cy="6653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3655402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8(B)</a:t>
              </a:r>
              <a:endParaRPr/>
            </a:p>
          </p:txBody>
        </p:sp>
      </p:grpSp>
      <p:grpSp>
        <p:nvGrpSpPr>
          <p:cNvPr id="1351386709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448315973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760477921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479875819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555484758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61589294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570392169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266643839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517507373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1325156976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791553124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234229063" name="TextBox 43"/>
          <p:cNvSpPr txBox="1"/>
          <p:nvPr/>
        </p:nvSpPr>
        <p:spPr bwMode="auto">
          <a:xfrm>
            <a:off x="2209799" y="1638299"/>
            <a:ext cx="15085204" cy="1798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IN" sz="2800"/>
          </a:p>
        </p:txBody>
      </p:sp>
      <p:pic>
        <p:nvPicPr>
          <p:cNvPr id="18806110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656680" y="1852611"/>
            <a:ext cx="13887450" cy="3009899"/>
          </a:xfrm>
          <a:prstGeom prst="rect">
            <a:avLst/>
          </a:prstGeom>
        </p:spPr>
      </p:pic>
      <p:pic>
        <p:nvPicPr>
          <p:cNvPr id="81408015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45843" y="5186362"/>
            <a:ext cx="6572250" cy="3009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4425470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8(C)</a:t>
              </a:r>
              <a:endParaRPr/>
            </a:p>
          </p:txBody>
        </p:sp>
      </p:grpSp>
      <p:grpSp>
        <p:nvGrpSpPr>
          <p:cNvPr id="698467233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562826297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073949479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221824004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410217731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942264647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730082668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806638848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605502079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330767074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856809250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100354983" name="TextBox 43"/>
          <p:cNvSpPr txBox="1"/>
          <p:nvPr/>
        </p:nvSpPr>
        <p:spPr bwMode="auto"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IN" sz="2800"/>
          </a:p>
        </p:txBody>
      </p:sp>
      <p:pic>
        <p:nvPicPr>
          <p:cNvPr id="36886460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205017" y="1801778"/>
            <a:ext cx="15054282" cy="7167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2217749" name="Group 5"/>
          <p:cNvGrpSpPr/>
          <p:nvPr/>
        </p:nvGrpSpPr>
        <p:grpSpPr bwMode="auto"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grpSp>
        <p:nvGrpSpPr>
          <p:cNvPr id="514256169" name="Group 8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274888197" name="Group 11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274944484" name="Group 14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297445932" name="Group 17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986433890" name="Group 20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817134964" name="Group 23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787784092" name="Group 26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866123604" name="Group 29"/>
          <p:cNvGrpSpPr/>
          <p:nvPr/>
        </p:nvGrpSpPr>
        <p:grpSpPr bwMode="auto"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fill="norm" stroke="1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sp>
        <p:nvSpPr>
          <p:cNvPr id="475088859" name="Freeform 32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grpSp>
        <p:nvGrpSpPr>
          <p:cNvPr id="780051028" name="Group 44"/>
          <p:cNvGrpSpPr/>
          <p:nvPr/>
        </p:nvGrpSpPr>
        <p:grpSpPr bwMode="auto"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272390300" name="TextBox 1"/>
          <p:cNvSpPr txBox="1"/>
          <p:nvPr/>
        </p:nvSpPr>
        <p:spPr bwMode="auto"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632330337" name=""/>
          <p:cNvSpPr txBox="1"/>
          <p:nvPr/>
        </p:nvSpPr>
        <p:spPr bwMode="auto">
          <a:xfrm rot="0" flipH="0" flipV="0">
            <a:off x="2859240" y="2568348"/>
            <a:ext cx="11839654" cy="461676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Advantages: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Centralized inventory management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Real-time stock updates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Reduces human errors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Improves decision making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Saves time and cost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Secure data storage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Limitations: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Requires internet connection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Initial setup cost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Training required for staff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374534" name="Freeform 32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fill="norm" stroke="1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1952895214" name="TextBox 43"/>
          <p:cNvSpPr txBox="1"/>
          <p:nvPr/>
        </p:nvSpPr>
        <p:spPr bwMode="auto"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  <a:defRPr/>
            </a:pPr>
            <a:r>
              <a:rPr lang="en-US" sz="11150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</a:rPr>
              <a:t>Thank you</a:t>
            </a:r>
            <a:endParaRPr/>
          </a:p>
        </p:txBody>
      </p:sp>
      <p:grpSp>
        <p:nvGrpSpPr>
          <p:cNvPr id="827381681" name="Group 44"/>
          <p:cNvGrpSpPr/>
          <p:nvPr/>
        </p:nvGrpSpPr>
        <p:grpSpPr bwMode="auto"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identifier>DAHCaYqJ9OU</dc:identifier>
  <cp:lastModifiedBy/>
  <cp:revision>12</cp:revision>
  <dcterms:created xsi:type="dcterms:W3CDTF">2006-08-16T00:00:00Z</dcterms:created>
  <dcterms:modified xsi:type="dcterms:W3CDTF">2026-03-23T01:21:10Z</dcterms:modified>
</cp:coreProperties>
</file>