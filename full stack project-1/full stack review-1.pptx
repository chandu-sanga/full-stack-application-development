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790575" indent="-333375">
              <a:defRPr sz="2800"/>
            </a:lvl2pPr>
            <a:lvl3pPr marL="1234439" indent="-320039">
              <a:defRPr sz="2800"/>
            </a:lvl3pPr>
            <a:lvl4pPr marL="1727200" indent="-355600">
              <a:defRPr sz="2800"/>
            </a:lvl4pPr>
            <a:lvl5pPr marL="2184400" indent="-355600"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400"/>
            </a:lvl1pPr>
            <a:lvl2pPr marL="0" indent="457200">
              <a:buSzTx/>
              <a:buFontTx/>
              <a:buNone/>
              <a:defRPr sz="1400"/>
            </a:lvl2pPr>
            <a:lvl3pPr marL="0" indent="914400">
              <a:buSzTx/>
              <a:buFontTx/>
              <a:buNone/>
              <a:defRPr sz="1400"/>
            </a:lvl3pPr>
            <a:lvl4pPr marL="0" indent="1371600">
              <a:buSzTx/>
              <a:buFontTx/>
              <a:buNone/>
              <a:defRPr sz="1400"/>
            </a:lvl4pPr>
            <a:lvl5pPr marL="0" indent="1828800"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11"/>
          <p:cNvSpPr/>
          <p:nvPr/>
        </p:nvSpPr>
        <p:spPr>
          <a:xfrm>
            <a:off x="11762088" y="-9632634"/>
            <a:ext cx="10994425" cy="10994425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Freeform 20"/>
          <p:cNvSpPr/>
          <p:nvPr/>
        </p:nvSpPr>
        <p:spPr>
          <a:xfrm>
            <a:off x="-9965724" y="-1383136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pic>
        <p:nvPicPr>
          <p:cNvPr id="96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10443" y="196688"/>
            <a:ext cx="4752248" cy="1360613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23"/>
          <p:cNvSpPr txBox="1"/>
          <p:nvPr/>
        </p:nvSpPr>
        <p:spPr>
          <a:xfrm>
            <a:off x="1405721" y="1608481"/>
            <a:ext cx="15834361" cy="156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latin typeface="Cambria"/>
                <a:ea typeface="Cambria"/>
                <a:cs typeface="Cambria"/>
                <a:sym typeface="Cambria"/>
              </a:defRPr>
            </a:pPr>
            <a:r>
              <a:t>Vel Tech Rangarajan Dr. Sagunthala R&amp;D Institute of Science and Technology</a:t>
            </a:r>
          </a:p>
          <a:p>
            <a:pPr algn="ctr">
              <a:defRPr sz="3600">
                <a:latin typeface="Cambria"/>
                <a:ea typeface="Cambria"/>
                <a:cs typeface="Cambria"/>
                <a:sym typeface="Cambria"/>
              </a:defRPr>
            </a:pPr>
            <a:r>
              <a:t>School of Computing </a:t>
            </a:r>
          </a:p>
          <a:p>
            <a:pPr algn="ctr">
              <a:defRPr sz="3200">
                <a:latin typeface="Cambria"/>
                <a:ea typeface="Cambria"/>
                <a:cs typeface="Cambria"/>
                <a:sym typeface="Cambria"/>
              </a:defRPr>
            </a:pPr>
            <a:r>
              <a:t>Department of Computer Science and Engineering</a:t>
            </a:r>
          </a:p>
        </p:txBody>
      </p:sp>
      <p:sp>
        <p:nvSpPr>
          <p:cNvPr id="98" name="TextBox 25"/>
          <p:cNvSpPr txBox="1"/>
          <p:nvPr/>
        </p:nvSpPr>
        <p:spPr>
          <a:xfrm>
            <a:off x="1738554" y="3272356"/>
            <a:ext cx="15168697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0033C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10211CS224 / FULL STACK APPLICATION DEVELOPMENT (JAVA)</a:t>
            </a:r>
          </a:p>
        </p:txBody>
      </p:sp>
      <p:sp>
        <p:nvSpPr>
          <p:cNvPr id="99" name="TextBox 26"/>
          <p:cNvSpPr txBox="1"/>
          <p:nvPr/>
        </p:nvSpPr>
        <p:spPr>
          <a:xfrm>
            <a:off x="3773475" y="3897938"/>
            <a:ext cx="11105330" cy="167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PROJECT REVIEW : MILESTONE PROJECT – 1</a:t>
            </a:r>
          </a:p>
          <a:p>
            <a:pPr algn="ctr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Date: 02-03-2026</a:t>
            </a:r>
          </a:p>
        </p:txBody>
      </p:sp>
      <p:sp>
        <p:nvSpPr>
          <p:cNvPr id="100" name="TextBox 12"/>
          <p:cNvSpPr txBox="1"/>
          <p:nvPr/>
        </p:nvSpPr>
        <p:spPr>
          <a:xfrm>
            <a:off x="1547358" y="6057900"/>
            <a:ext cx="15694522" cy="1462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Relational Inventory Control &amp; Stock Tracking System</a:t>
            </a:r>
          </a:p>
        </p:txBody>
      </p:sp>
      <p:sp>
        <p:nvSpPr>
          <p:cNvPr id="101" name="TextBox 13"/>
          <p:cNvSpPr txBox="1"/>
          <p:nvPr/>
        </p:nvSpPr>
        <p:spPr>
          <a:xfrm>
            <a:off x="939588" y="7800536"/>
            <a:ext cx="8981039" cy="2318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36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t>Presented By:</a:t>
            </a:r>
            <a:br/>
            <a:r>
              <a:rPr b="1" spc="-14" sz="2400">
                <a:latin typeface="Caladea"/>
                <a:ea typeface="Caladea"/>
                <a:cs typeface="Caladea"/>
                <a:sym typeface="Caladea"/>
              </a:rPr>
              <a:t>SANGA CHANDU  </a:t>
            </a:r>
            <a:br>
              <a:rPr b="1" spc="-14" sz="2400">
                <a:latin typeface="Caladea"/>
                <a:ea typeface="Caladea"/>
                <a:cs typeface="Caladea"/>
                <a:sym typeface="Caladea"/>
              </a:rPr>
            </a:br>
            <a:r>
              <a:rPr b="1" spc="-14" sz="2400">
                <a:latin typeface="Caladea"/>
                <a:ea typeface="Caladea"/>
                <a:cs typeface="Caladea"/>
                <a:sym typeface="Caladea"/>
              </a:rPr>
              <a:t>VTU27286</a:t>
            </a:r>
            <a:br>
              <a:rPr b="1" spc="-14" sz="2400">
                <a:latin typeface="Caladea"/>
                <a:ea typeface="Caladea"/>
                <a:cs typeface="Caladea"/>
                <a:sym typeface="Caladea"/>
              </a:rPr>
            </a:br>
            <a:r>
              <a:rPr b="1" spc="-14" sz="2400">
                <a:latin typeface="Caladea"/>
                <a:ea typeface="Caladea"/>
                <a:cs typeface="Caladea"/>
                <a:sym typeface="Caladea"/>
              </a:rPr>
              <a:t>Reg.No.</a:t>
            </a:r>
            <a:r>
              <a:rPr b="1" spc="-14" sz="2400">
                <a:latin typeface="Times New Roman"/>
                <a:ea typeface="Times New Roman"/>
                <a:cs typeface="Times New Roman"/>
                <a:sym typeface="Times New Roman"/>
              </a:rPr>
              <a:t>23UECS0505</a:t>
            </a:r>
          </a:p>
        </p:txBody>
      </p:sp>
      <p:sp>
        <p:nvSpPr>
          <p:cNvPr id="102" name="TextBox 14"/>
          <p:cNvSpPr txBox="1"/>
          <p:nvPr/>
        </p:nvSpPr>
        <p:spPr>
          <a:xfrm>
            <a:off x="10990755" y="7818583"/>
            <a:ext cx="6825321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t>Courses Handling Faculty:</a:t>
            </a:r>
            <a:br/>
            <a:r>
              <a:rPr b="1" spc="-14">
                <a:latin typeface="Caladea"/>
                <a:ea typeface="Caladea"/>
                <a:cs typeface="Caladea"/>
                <a:sym typeface="Caladea"/>
              </a:rPr>
              <a:t>Dr. S. Hemamalini</a:t>
            </a:r>
            <a:r>
              <a:rPr sz="2200"/>
              <a:t>-M.E., Ph.D.,</a:t>
            </a:r>
          </a:p>
        </p:txBody>
      </p:sp>
      <p:sp>
        <p:nvSpPr>
          <p:cNvPr id="103" name="TextBox 15"/>
          <p:cNvSpPr txBox="1"/>
          <p:nvPr/>
        </p:nvSpPr>
        <p:spPr>
          <a:xfrm>
            <a:off x="1796278" y="7057343"/>
            <a:ext cx="1465245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pc="-14" sz="2000">
                <a:latin typeface="Caladea"/>
                <a:ea typeface="Caladea"/>
                <a:cs typeface="Caladea"/>
                <a:sym typeface="Caladea"/>
              </a:defRPr>
            </a:lvl1pPr>
          </a:lstStyle>
          <a:p>
            <a:pPr/>
            <a:r>
              <a:t>SDG: SDG No –4 ( Quality Education)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 8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8" name="Group 9"/>
          <p:cNvGrpSpPr/>
          <p:nvPr/>
        </p:nvGrpSpPr>
        <p:grpSpPr>
          <a:xfrm>
            <a:off x="706081" y="1952202"/>
            <a:ext cx="992464" cy="992464"/>
            <a:chOff x="0" y="0"/>
            <a:chExt cx="992462" cy="992462"/>
          </a:xfrm>
        </p:grpSpPr>
        <p:sp>
          <p:nvSpPr>
            <p:cNvPr id="106" name="Freeform 10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7" name="TextBox 11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11" name="Group 12"/>
          <p:cNvGrpSpPr/>
          <p:nvPr/>
        </p:nvGrpSpPr>
        <p:grpSpPr>
          <a:xfrm>
            <a:off x="948235" y="4447339"/>
            <a:ext cx="508159" cy="543806"/>
            <a:chOff x="0" y="0"/>
            <a:chExt cx="508157" cy="543804"/>
          </a:xfrm>
        </p:grpSpPr>
        <p:sp>
          <p:nvSpPr>
            <p:cNvPr id="109" name="Freeform 1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0" name="TextBox 1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14" name="Group 15"/>
          <p:cNvGrpSpPr/>
          <p:nvPr/>
        </p:nvGrpSpPr>
        <p:grpSpPr>
          <a:xfrm>
            <a:off x="948235" y="3107362"/>
            <a:ext cx="508159" cy="543806"/>
            <a:chOff x="0" y="0"/>
            <a:chExt cx="508157" cy="543804"/>
          </a:xfrm>
        </p:grpSpPr>
        <p:sp>
          <p:nvSpPr>
            <p:cNvPr id="112" name="Freeform 1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3" name="TextBox 1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17" name="Group 18"/>
          <p:cNvGrpSpPr/>
          <p:nvPr/>
        </p:nvGrpSpPr>
        <p:grpSpPr>
          <a:xfrm>
            <a:off x="948235" y="5115752"/>
            <a:ext cx="508159" cy="543806"/>
            <a:chOff x="0" y="0"/>
            <a:chExt cx="508157" cy="543804"/>
          </a:xfrm>
        </p:grpSpPr>
        <p:sp>
          <p:nvSpPr>
            <p:cNvPr id="115" name="Freeform 1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6" name="TextBox 2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20" name="Group 21"/>
          <p:cNvGrpSpPr/>
          <p:nvPr/>
        </p:nvGrpSpPr>
        <p:grpSpPr>
          <a:xfrm>
            <a:off x="948235" y="3776486"/>
            <a:ext cx="508159" cy="543806"/>
            <a:chOff x="0" y="0"/>
            <a:chExt cx="508157" cy="543804"/>
          </a:xfrm>
        </p:grpSpPr>
        <p:sp>
          <p:nvSpPr>
            <p:cNvPr id="118" name="Freeform 2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9" name="TextBox 2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23" name="Group 24"/>
          <p:cNvGrpSpPr/>
          <p:nvPr/>
        </p:nvGrpSpPr>
        <p:grpSpPr>
          <a:xfrm>
            <a:off x="948235" y="6455729"/>
            <a:ext cx="508159" cy="543806"/>
            <a:chOff x="0" y="0"/>
            <a:chExt cx="508157" cy="543804"/>
          </a:xfrm>
        </p:grpSpPr>
        <p:sp>
          <p:nvSpPr>
            <p:cNvPr id="121" name="Freeform 2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2" name="TextBox 2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26" name="Group 27"/>
          <p:cNvGrpSpPr/>
          <p:nvPr/>
        </p:nvGrpSpPr>
        <p:grpSpPr>
          <a:xfrm>
            <a:off x="948235" y="5784877"/>
            <a:ext cx="508159" cy="543806"/>
            <a:chOff x="0" y="0"/>
            <a:chExt cx="508157" cy="543804"/>
          </a:xfrm>
        </p:grpSpPr>
        <p:sp>
          <p:nvSpPr>
            <p:cNvPr id="124" name="Freeform 2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5" name="TextBox 2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29" name="Group 36"/>
          <p:cNvGrpSpPr/>
          <p:nvPr/>
        </p:nvGrpSpPr>
        <p:grpSpPr>
          <a:xfrm>
            <a:off x="948235" y="7123361"/>
            <a:ext cx="508159" cy="543806"/>
            <a:chOff x="0" y="0"/>
            <a:chExt cx="508157" cy="543804"/>
          </a:xfrm>
        </p:grpSpPr>
        <p:sp>
          <p:nvSpPr>
            <p:cNvPr id="127" name="Freeform 3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8" name="TextBox 3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32" name="Group 39"/>
          <p:cNvGrpSpPr/>
          <p:nvPr/>
        </p:nvGrpSpPr>
        <p:grpSpPr>
          <a:xfrm>
            <a:off x="948235" y="7790991"/>
            <a:ext cx="508159" cy="543806"/>
            <a:chOff x="0" y="0"/>
            <a:chExt cx="508157" cy="543804"/>
          </a:xfrm>
        </p:grpSpPr>
        <p:sp>
          <p:nvSpPr>
            <p:cNvPr id="130" name="Freeform 4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1" name="TextBox 4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33" name="TextBox 1"/>
          <p:cNvSpPr txBox="1"/>
          <p:nvPr/>
        </p:nvSpPr>
        <p:spPr>
          <a:xfrm>
            <a:off x="198119" y="342899"/>
            <a:ext cx="180441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34" name="TextBox 2"/>
          <p:cNvSpPr txBox="1"/>
          <p:nvPr/>
        </p:nvSpPr>
        <p:spPr>
          <a:xfrm>
            <a:off x="1893219" y="3679371"/>
            <a:ext cx="15844890" cy="2478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A Relational Inventory Control &amp; Stock Tracking System is a software application used to manage product stock efficiently.</a:t>
            </a:r>
            <a:br/>
            <a:r>
              <a:t>➤ It helps businesses track inventory levels, stock movement, and product details in real time.</a:t>
            </a:r>
            <a:br/>
            <a:r>
              <a:t>➤ The system maintains data using a relational database (tables with relationships).</a:t>
            </a:r>
            <a:br/>
            <a:r>
              <a:t>➤ It monitors stock-in, stock-out, supplier, and sales information.</a:t>
            </a:r>
            <a:br/>
            <a:r>
              <a:t>➤ It reduces human errors in manual inventory management.</a:t>
            </a:r>
            <a:br/>
            <a:r>
              <a:t>➤ It provides real-time alerts for low stock levels.</a:t>
            </a:r>
            <a:br/>
            <a:r>
              <a:t>➤ It improves accuracy, efficiency, and decision-making.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9" name="Group 11"/>
          <p:cNvGrpSpPr/>
          <p:nvPr/>
        </p:nvGrpSpPr>
        <p:grpSpPr>
          <a:xfrm>
            <a:off x="709356" y="2648112"/>
            <a:ext cx="992464" cy="992463"/>
            <a:chOff x="0" y="0"/>
            <a:chExt cx="992462" cy="992462"/>
          </a:xfrm>
        </p:grpSpPr>
        <p:sp>
          <p:nvSpPr>
            <p:cNvPr id="137" name="Freeform 12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8" name="TextBox 13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42" name="Group 14"/>
          <p:cNvGrpSpPr/>
          <p:nvPr/>
        </p:nvGrpSpPr>
        <p:grpSpPr>
          <a:xfrm>
            <a:off x="951508" y="4428295"/>
            <a:ext cx="508159" cy="543806"/>
            <a:chOff x="0" y="0"/>
            <a:chExt cx="508157" cy="543804"/>
          </a:xfrm>
        </p:grpSpPr>
        <p:sp>
          <p:nvSpPr>
            <p:cNvPr id="140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1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45" name="Group 17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143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4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48" name="Group 20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146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7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51" name="Group 23"/>
          <p:cNvGrpSpPr/>
          <p:nvPr/>
        </p:nvGrpSpPr>
        <p:grpSpPr>
          <a:xfrm>
            <a:off x="951508" y="3762533"/>
            <a:ext cx="508159" cy="543806"/>
            <a:chOff x="0" y="0"/>
            <a:chExt cx="508157" cy="543804"/>
          </a:xfrm>
        </p:grpSpPr>
        <p:sp>
          <p:nvSpPr>
            <p:cNvPr id="149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0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54" name="Group 26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152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3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57" name="Group 29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155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60" name="Group 36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158" name="Freeform 3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9" name="TextBox 3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63" name="Group 39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161" name="Freeform 4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2" name="TextBox 4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64" name="TextBox 46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65" name="TextBox 47"/>
          <p:cNvSpPr txBox="1"/>
          <p:nvPr/>
        </p:nvSpPr>
        <p:spPr>
          <a:xfrm>
            <a:off x="2068420" y="3169103"/>
            <a:ext cx="14992686" cy="3125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Many businesses manage inventory manually using Excel or paper records.</a:t>
            </a:r>
            <a:br/>
            <a:r>
              <a:t>➤ Manual tracking leads to stock miscalculations and data loss.</a:t>
            </a:r>
            <a:br/>
            <a:r>
              <a:t>➤ No real-time stock visibility.</a:t>
            </a:r>
            <a:br/>
            <a:r>
              <a:t>➤ Overstocking increases storage cost.</a:t>
            </a:r>
            <a:br/>
            <a:r>
              <a:t>➤ Understocking leads to customer dissatisfaction.</a:t>
            </a:r>
            <a:br/>
            <a:r>
              <a:t>➤ Difficult to track supplier and sales history.</a:t>
            </a:r>
            <a:br/>
            <a:r>
              <a:t>➤ Lack of reporting and analytics for business decisions.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Therefore, an automated relational inventory system is required.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7"/>
          <p:cNvGrpSpPr/>
          <p:nvPr/>
        </p:nvGrpSpPr>
        <p:grpSpPr>
          <a:xfrm>
            <a:off x="709356" y="3315742"/>
            <a:ext cx="992464" cy="992464"/>
            <a:chOff x="0" y="0"/>
            <a:chExt cx="992462" cy="992462"/>
          </a:xfrm>
        </p:grpSpPr>
        <p:sp>
          <p:nvSpPr>
            <p:cNvPr id="16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8" name="TextBox 9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72" name="Group 10"/>
          <p:cNvGrpSpPr/>
          <p:nvPr/>
        </p:nvGrpSpPr>
        <p:grpSpPr>
          <a:xfrm>
            <a:off x="951508" y="4428295"/>
            <a:ext cx="508159" cy="543806"/>
            <a:chOff x="0" y="0"/>
            <a:chExt cx="508157" cy="543804"/>
          </a:xfrm>
        </p:grpSpPr>
        <p:sp>
          <p:nvSpPr>
            <p:cNvPr id="17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75" name="Group 13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17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78" name="Group 16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17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81" name="Group 19"/>
          <p:cNvGrpSpPr/>
          <p:nvPr/>
        </p:nvGrpSpPr>
        <p:grpSpPr>
          <a:xfrm>
            <a:off x="951508" y="2648112"/>
            <a:ext cx="508159" cy="543806"/>
            <a:chOff x="0" y="0"/>
            <a:chExt cx="508157" cy="543804"/>
          </a:xfrm>
        </p:grpSpPr>
        <p:sp>
          <p:nvSpPr>
            <p:cNvPr id="17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84" name="Group 22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18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87" name="Group 25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18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90" name="Group 41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188" name="Freeform 4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9" name="TextBox 4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93" name="Group 44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191" name="Freeform 4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2" name="TextBox 4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94" name="TextBox 49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OBJECTIVE(S)</a:t>
            </a:r>
          </a:p>
        </p:txBody>
      </p:sp>
      <p:sp>
        <p:nvSpPr>
          <p:cNvPr id="195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Box 51"/>
          <p:cNvSpPr txBox="1"/>
          <p:nvPr/>
        </p:nvSpPr>
        <p:spPr>
          <a:xfrm>
            <a:off x="2220174" y="3373208"/>
            <a:ext cx="14993404" cy="2363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Centralize inventory data using relational database.</a:t>
            </a:r>
            <a:br/>
            <a:r>
              <a:t>➤ Automate stock tracking and updates.</a:t>
            </a:r>
            <a:br/>
            <a:r>
              <a:t>➤ Reduce manual errors and duplicate entries.</a:t>
            </a:r>
            <a:br/>
            <a:r>
              <a:t>➤ Provide real-time stock availability.</a:t>
            </a:r>
            <a:br/>
            <a:r>
              <a:t>➤ Generate reports for sales and inventory analysis.</a:t>
            </a:r>
            <a:br/>
            <a:r>
              <a:t>➤ Improve operational efficiency and productivity.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13"/>
          <p:cNvGrpSpPr/>
          <p:nvPr/>
        </p:nvGrpSpPr>
        <p:grpSpPr>
          <a:xfrm>
            <a:off x="709356" y="3983373"/>
            <a:ext cx="992464" cy="992464"/>
            <a:chOff x="0" y="0"/>
            <a:chExt cx="992462" cy="992462"/>
          </a:xfrm>
        </p:grpSpPr>
        <p:sp>
          <p:nvSpPr>
            <p:cNvPr id="198" name="Freeform 14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9" name="TextBox 15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03" name="Group 16"/>
          <p:cNvGrpSpPr/>
          <p:nvPr/>
        </p:nvGrpSpPr>
        <p:grpSpPr>
          <a:xfrm>
            <a:off x="951508" y="3315742"/>
            <a:ext cx="508159" cy="543806"/>
            <a:chOff x="0" y="0"/>
            <a:chExt cx="508157" cy="543804"/>
          </a:xfrm>
        </p:grpSpPr>
        <p:sp>
          <p:nvSpPr>
            <p:cNvPr id="201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2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06" name="Group 19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204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5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09" name="Group 22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207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8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12" name="Group 25"/>
          <p:cNvGrpSpPr/>
          <p:nvPr/>
        </p:nvGrpSpPr>
        <p:grpSpPr>
          <a:xfrm>
            <a:off x="951508" y="2648112"/>
            <a:ext cx="508159" cy="543806"/>
            <a:chOff x="0" y="0"/>
            <a:chExt cx="508157" cy="543804"/>
          </a:xfrm>
        </p:grpSpPr>
        <p:sp>
          <p:nvSpPr>
            <p:cNvPr id="210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1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15" name="Group 28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213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4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18" name="Group 31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216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7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21" name="Group 34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219" name="Freeform 3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0" name="TextBox 3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24" name="Group 37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222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3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225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Box 45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SYSTEM</a:t>
            </a:r>
          </a:p>
        </p:txBody>
      </p:sp>
      <p:sp>
        <p:nvSpPr>
          <p:cNvPr id="227" name="TextBox 47"/>
          <p:cNvSpPr txBox="1"/>
          <p:nvPr/>
        </p:nvSpPr>
        <p:spPr>
          <a:xfrm>
            <a:off x="2102438" y="3288165"/>
            <a:ext cx="14992686" cy="2744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Web-based centralized inventory management system.</a:t>
            </a:r>
            <a:br/>
            <a:r>
              <a:t>➤ Stores products, categories, suppliers, and transactions in relational tables.</a:t>
            </a:r>
            <a:br/>
            <a:r>
              <a:t>➤ Automatically updates stock during sales or purchases.</a:t>
            </a:r>
            <a:br/>
            <a:r>
              <a:t>➤ Low stock alert notification system.</a:t>
            </a:r>
            <a:br/>
            <a:r>
              <a:t>➤ Role-based login (Admin / Staff).</a:t>
            </a:r>
            <a:br/>
            <a:r>
              <a:t>➤ Generates real-time reports and analytics.</a:t>
            </a:r>
            <a:br/>
            <a:r>
              <a:t>➤ Secure authentication and authorization system.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5"/>
          <p:cNvGrpSpPr/>
          <p:nvPr/>
        </p:nvGrpSpPr>
        <p:grpSpPr>
          <a:xfrm>
            <a:off x="709356" y="4655765"/>
            <a:ext cx="992464" cy="992464"/>
            <a:chOff x="0" y="0"/>
            <a:chExt cx="992462" cy="992462"/>
          </a:xfrm>
        </p:grpSpPr>
        <p:sp>
          <p:nvSpPr>
            <p:cNvPr id="229" name="Freeform 6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0" name="TextBox 7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34" name="Group 8"/>
          <p:cNvGrpSpPr/>
          <p:nvPr/>
        </p:nvGrpSpPr>
        <p:grpSpPr>
          <a:xfrm>
            <a:off x="951508" y="3320505"/>
            <a:ext cx="508159" cy="543806"/>
            <a:chOff x="0" y="0"/>
            <a:chExt cx="508157" cy="543804"/>
          </a:xfrm>
        </p:grpSpPr>
        <p:sp>
          <p:nvSpPr>
            <p:cNvPr id="232" name="Freeform 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3" name="TextBox 1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37" name="Group 11"/>
          <p:cNvGrpSpPr/>
          <p:nvPr/>
        </p:nvGrpSpPr>
        <p:grpSpPr>
          <a:xfrm>
            <a:off x="951508" y="1987111"/>
            <a:ext cx="508159" cy="543806"/>
            <a:chOff x="0" y="0"/>
            <a:chExt cx="508157" cy="543804"/>
          </a:xfrm>
        </p:grpSpPr>
        <p:sp>
          <p:nvSpPr>
            <p:cNvPr id="235" name="Freeform 1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6" name="TextBox 1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40" name="Group 14"/>
          <p:cNvGrpSpPr/>
          <p:nvPr/>
        </p:nvGrpSpPr>
        <p:grpSpPr>
          <a:xfrm>
            <a:off x="951508" y="3988134"/>
            <a:ext cx="508159" cy="543806"/>
            <a:chOff x="0" y="0"/>
            <a:chExt cx="508157" cy="543804"/>
          </a:xfrm>
        </p:grpSpPr>
        <p:sp>
          <p:nvSpPr>
            <p:cNvPr id="238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9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43" name="Group 17"/>
          <p:cNvGrpSpPr/>
          <p:nvPr/>
        </p:nvGrpSpPr>
        <p:grpSpPr>
          <a:xfrm>
            <a:off x="951508" y="2652873"/>
            <a:ext cx="508159" cy="543806"/>
            <a:chOff x="0" y="0"/>
            <a:chExt cx="508157" cy="543804"/>
          </a:xfrm>
        </p:grpSpPr>
        <p:sp>
          <p:nvSpPr>
            <p:cNvPr id="241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2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46" name="Group 20"/>
          <p:cNvGrpSpPr/>
          <p:nvPr/>
        </p:nvGrpSpPr>
        <p:grpSpPr>
          <a:xfrm>
            <a:off x="951508" y="6430347"/>
            <a:ext cx="508159" cy="543806"/>
            <a:chOff x="0" y="0"/>
            <a:chExt cx="508157" cy="543804"/>
          </a:xfrm>
        </p:grpSpPr>
        <p:sp>
          <p:nvSpPr>
            <p:cNvPr id="244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5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49" name="Group 23"/>
          <p:cNvGrpSpPr/>
          <p:nvPr/>
        </p:nvGrpSpPr>
        <p:grpSpPr>
          <a:xfrm>
            <a:off x="951508" y="5764584"/>
            <a:ext cx="508159" cy="543806"/>
            <a:chOff x="0" y="0"/>
            <a:chExt cx="508157" cy="543804"/>
          </a:xfrm>
        </p:grpSpPr>
        <p:sp>
          <p:nvSpPr>
            <p:cNvPr id="247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8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52" name="Group 26"/>
          <p:cNvGrpSpPr/>
          <p:nvPr/>
        </p:nvGrpSpPr>
        <p:grpSpPr>
          <a:xfrm>
            <a:off x="951508" y="7088453"/>
            <a:ext cx="508159" cy="543806"/>
            <a:chOff x="0" y="0"/>
            <a:chExt cx="508157" cy="543804"/>
          </a:xfrm>
        </p:grpSpPr>
        <p:sp>
          <p:nvSpPr>
            <p:cNvPr id="250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1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55" name="Group 29"/>
          <p:cNvGrpSpPr/>
          <p:nvPr/>
        </p:nvGrpSpPr>
        <p:grpSpPr>
          <a:xfrm>
            <a:off x="951508" y="7756083"/>
            <a:ext cx="508159" cy="543806"/>
            <a:chOff x="0" y="0"/>
            <a:chExt cx="508157" cy="543804"/>
          </a:xfrm>
        </p:grpSpPr>
        <p:sp>
          <p:nvSpPr>
            <p:cNvPr id="253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4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256" name="Freeform 38"/>
          <p:cNvSpPr/>
          <p:nvPr/>
        </p:nvSpPr>
        <p:spPr>
          <a:xfrm>
            <a:off x="11762088" y="-9632634"/>
            <a:ext cx="10994425" cy="10994425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Box 41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SYSTEM ARCHITECTURE</a:t>
            </a:r>
          </a:p>
        </p:txBody>
      </p:sp>
      <p:sp>
        <p:nvSpPr>
          <p:cNvPr id="259" name="TextBox 42"/>
          <p:cNvSpPr txBox="1"/>
          <p:nvPr/>
        </p:nvSpPr>
        <p:spPr>
          <a:xfrm>
            <a:off x="2846571" y="1661649"/>
            <a:ext cx="14994486" cy="82498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6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26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46571" y="1661649"/>
            <a:ext cx="8402878" cy="80869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roup 14"/>
          <p:cNvGrpSpPr/>
          <p:nvPr/>
        </p:nvGrpSpPr>
        <p:grpSpPr>
          <a:xfrm>
            <a:off x="735587" y="5318633"/>
            <a:ext cx="992464" cy="992464"/>
            <a:chOff x="0" y="0"/>
            <a:chExt cx="992462" cy="992462"/>
          </a:xfrm>
        </p:grpSpPr>
        <p:sp>
          <p:nvSpPr>
            <p:cNvPr id="262" name="Freeform 15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3" name="TextBox 16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67" name="Group 17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265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6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70" name="Group 20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268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9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73" name="Group 23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271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2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76" name="Group 26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274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5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79" name="Group 29"/>
          <p:cNvGrpSpPr/>
          <p:nvPr/>
        </p:nvGrpSpPr>
        <p:grpSpPr>
          <a:xfrm>
            <a:off x="977740" y="6425584"/>
            <a:ext cx="508159" cy="543806"/>
            <a:chOff x="0" y="0"/>
            <a:chExt cx="508157" cy="543804"/>
          </a:xfrm>
        </p:grpSpPr>
        <p:sp>
          <p:nvSpPr>
            <p:cNvPr id="277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8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82" name="Group 32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280" name="Freeform 3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1" name="TextBox 3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85" name="Group 37"/>
          <p:cNvGrpSpPr/>
          <p:nvPr/>
        </p:nvGrpSpPr>
        <p:grpSpPr>
          <a:xfrm>
            <a:off x="977740" y="7093215"/>
            <a:ext cx="508159" cy="543806"/>
            <a:chOff x="0" y="0"/>
            <a:chExt cx="508157" cy="543804"/>
          </a:xfrm>
        </p:grpSpPr>
        <p:sp>
          <p:nvSpPr>
            <p:cNvPr id="283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4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88" name="Group 40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286" name="Freeform 4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7" name="TextBox 4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289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TextBox 46"/>
          <p:cNvSpPr txBox="1"/>
          <p:nvPr/>
        </p:nvSpPr>
        <p:spPr>
          <a:xfrm>
            <a:off x="236219" y="315937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WORKFLOW</a:t>
            </a:r>
          </a:p>
        </p:txBody>
      </p:sp>
      <p:sp>
        <p:nvSpPr>
          <p:cNvPr id="291" name="TextBox 49"/>
          <p:cNvSpPr txBox="1"/>
          <p:nvPr/>
        </p:nvSpPr>
        <p:spPr>
          <a:xfrm>
            <a:off x="2255517" y="2301873"/>
            <a:ext cx="15011404" cy="5030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[User Login]</a:t>
            </a:r>
            <a:br/>
            <a:r>
              <a:t>        ↓</a:t>
            </a:r>
            <a:br/>
            <a:r>
              <a:t>[Add / Update Product]</a:t>
            </a:r>
            <a:br/>
            <a:r>
              <a:t>        ↓</a:t>
            </a:r>
            <a:br/>
            <a:r>
              <a:t>[Stock In (Purchase)]</a:t>
            </a:r>
            <a:br/>
            <a:r>
              <a:t>        ↓</a:t>
            </a:r>
            <a:br/>
            <a:r>
              <a:t>[Stock Out (Sale)]</a:t>
            </a:r>
            <a:br/>
            <a:r>
              <a:t>        ↓</a:t>
            </a:r>
            <a:br/>
            <a:r>
              <a:t>[Automatic Stock Update]</a:t>
            </a:r>
            <a:br/>
            <a:r>
              <a:t>        ↓</a:t>
            </a:r>
            <a:br/>
            <a:r>
              <a:t>[Report Generation]</a:t>
            </a:r>
            <a:br/>
            <a:r>
              <a:t>        ↓</a:t>
            </a:r>
            <a:br/>
            <a:r>
              <a:t>[Logout]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roup 19"/>
          <p:cNvGrpSpPr/>
          <p:nvPr/>
        </p:nvGrpSpPr>
        <p:grpSpPr>
          <a:xfrm>
            <a:off x="735587" y="5976927"/>
            <a:ext cx="992464" cy="992464"/>
            <a:chOff x="0" y="0"/>
            <a:chExt cx="992462" cy="992462"/>
          </a:xfrm>
        </p:grpSpPr>
        <p:sp>
          <p:nvSpPr>
            <p:cNvPr id="293" name="Freeform 20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4" name="TextBox 21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98" name="Group 22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296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7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01" name="Group 25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299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0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04" name="Group 28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02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3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07" name="Group 31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05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6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10" name="Group 34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08" name="Freeform 3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9" name="TextBox 3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13" name="Group 37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11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2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16" name="Group 40"/>
          <p:cNvGrpSpPr/>
          <p:nvPr/>
        </p:nvGrpSpPr>
        <p:grpSpPr>
          <a:xfrm>
            <a:off x="977740" y="7093215"/>
            <a:ext cx="508159" cy="543806"/>
            <a:chOff x="0" y="0"/>
            <a:chExt cx="508157" cy="543804"/>
          </a:xfrm>
        </p:grpSpPr>
        <p:sp>
          <p:nvSpPr>
            <p:cNvPr id="314" name="Freeform 4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5" name="TextBox 4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19" name="Group 43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17" name="Freeform 4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8" name="TextBox 4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320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TextBox 46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TECHNOLOGIES USED</a:t>
            </a:r>
          </a:p>
        </p:txBody>
      </p:sp>
      <p:sp>
        <p:nvSpPr>
          <p:cNvPr id="322" name="TextBox 47"/>
          <p:cNvSpPr txBox="1"/>
          <p:nvPr/>
        </p:nvSpPr>
        <p:spPr>
          <a:xfrm>
            <a:off x="2102438" y="2063521"/>
            <a:ext cx="14994486" cy="5792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Frontend:</a:t>
            </a:r>
            <a:br>
              <a:rPr b="1"/>
            </a:br>
            <a:r>
              <a:t>HTML, CSS, JavaScript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Backend:</a:t>
            </a:r>
            <a:br>
              <a:rPr b="1"/>
            </a:br>
            <a:r>
              <a:t>Java (Spring Boot)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Database:</a:t>
            </a:r>
            <a:br>
              <a:rPr b="1"/>
            </a:br>
            <a:r>
              <a:t>MySQL (Relational Database)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Tools:</a:t>
            </a:r>
            <a:br>
              <a:rPr b="1"/>
            </a:br>
            <a:r>
              <a:t>VS Code / Eclipse</a:t>
            </a:r>
            <a:br/>
            <a:r>
              <a:t>MySQL Workbench</a:t>
            </a:r>
            <a:br/>
            <a:r>
              <a:t>Apache Tomcat</a:t>
            </a:r>
            <a:br/>
            <a:r>
              <a:t>Git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Hardware Requirements:</a:t>
            </a:r>
            <a:br>
              <a:rPr b="1"/>
            </a:br>
            <a:r>
              <a:t>Minimum 4GB RAM</a:t>
            </a:r>
            <a:br/>
            <a:r>
              <a:t>Dual-Core Processor</a:t>
            </a:r>
            <a:br/>
            <a:r>
              <a:t>Windows/Linux 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24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5" name="TextBox 9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29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27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8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32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30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1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35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33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4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38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36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7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41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39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0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44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42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3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47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345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6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350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48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9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351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Freeform 36"/>
          <p:cNvSpPr/>
          <p:nvPr/>
        </p:nvSpPr>
        <p:spPr>
          <a:xfrm>
            <a:off x="17170670" y="-178579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MODULE DESCRIPTION</a:t>
            </a:r>
          </a:p>
        </p:txBody>
      </p:sp>
      <p:sp>
        <p:nvSpPr>
          <p:cNvPr id="354" name="TextBox 43"/>
          <p:cNvSpPr txBox="1"/>
          <p:nvPr/>
        </p:nvSpPr>
        <p:spPr>
          <a:xfrm>
            <a:off x="2255518" y="1638299"/>
            <a:ext cx="14995205" cy="7697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1: </a:t>
            </a:r>
            <a:r>
              <a:t>User Management</a:t>
            </a:r>
            <a:br/>
            <a:r>
              <a:t>• Admin Login</a:t>
            </a:r>
            <a:br/>
            <a:r>
              <a:t>• Role-based Authentication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2:</a:t>
            </a:r>
            <a:r>
              <a:t> Product Management</a:t>
            </a:r>
            <a:br/>
            <a:r>
              <a:t>• Add Product</a:t>
            </a:r>
            <a:br/>
            <a:r>
              <a:t>• Update Product</a:t>
            </a:r>
            <a:br/>
            <a:r>
              <a:t>• Delete Product</a:t>
            </a:r>
            <a:br/>
            <a:r>
              <a:t>• View Product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3: </a:t>
            </a:r>
            <a:r>
              <a:t>Supplier &amp; Purchase Module</a:t>
            </a:r>
            <a:br/>
            <a:r>
              <a:t>• Add Supplier</a:t>
            </a:r>
            <a:br/>
            <a:r>
              <a:t>• Record Purchase</a:t>
            </a:r>
            <a:br/>
            <a:r>
              <a:t>• Update Stock Automatically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4:</a:t>
            </a:r>
            <a:r>
              <a:t> Sales &amp; Billing Module</a:t>
            </a:r>
            <a:br/>
            <a:r>
              <a:t>• Record Sales</a:t>
            </a:r>
            <a:br/>
            <a:r>
              <a:t>• Reduce Stock Automatically</a:t>
            </a:r>
            <a:br/>
            <a:r>
              <a:t>• Generate Invoice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5:</a:t>
            </a:r>
            <a:r>
              <a:t> Reporting Module</a:t>
            </a:r>
            <a:br/>
            <a:r>
              <a:t>• Stock Report</a:t>
            </a:r>
            <a:br/>
            <a:r>
              <a:t>• Sales Report</a:t>
            </a:r>
            <a:br/>
            <a:r>
              <a:t>• Low Stock Alert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56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7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61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59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0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64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62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3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67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65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6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70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68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9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73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71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2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76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74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5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79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377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8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382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80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1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383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Freeform 36"/>
          <p:cNvSpPr/>
          <p:nvPr/>
        </p:nvSpPr>
        <p:spPr>
          <a:xfrm>
            <a:off x="17170670" y="-178579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85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386" name="image3.png" descr="image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90735" y="2004418"/>
            <a:ext cx="15797656" cy="59960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88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9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8(A)</a:t>
              </a:r>
            </a:p>
          </p:txBody>
        </p:sp>
      </p:grpSp>
      <p:grpSp>
        <p:nvGrpSpPr>
          <p:cNvPr id="393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91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2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96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94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5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99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97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8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02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00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1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05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03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4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08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06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7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411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09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10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414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12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13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415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Freeform 36"/>
          <p:cNvSpPr/>
          <p:nvPr/>
        </p:nvSpPr>
        <p:spPr>
          <a:xfrm>
            <a:off x="17170670" y="-178579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418" name="image4.png" descr="image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46717" y="2171294"/>
            <a:ext cx="15240000" cy="66535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420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1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8(B)</a:t>
              </a:r>
            </a:p>
          </p:txBody>
        </p:sp>
      </p:grpSp>
      <p:grpSp>
        <p:nvGrpSpPr>
          <p:cNvPr id="425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23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4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428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26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7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31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29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30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34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32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33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37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35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36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40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38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39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443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41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2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446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44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5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447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Freeform 36"/>
          <p:cNvSpPr/>
          <p:nvPr/>
        </p:nvSpPr>
        <p:spPr>
          <a:xfrm>
            <a:off x="17170670" y="-178579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450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56680" y="1852610"/>
            <a:ext cx="13887451" cy="3009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" name="image6.png" descr="image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845842" y="5186362"/>
            <a:ext cx="6572251" cy="3009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453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4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8(C)</a:t>
              </a:r>
            </a:p>
          </p:txBody>
        </p:sp>
      </p:grpSp>
      <p:grpSp>
        <p:nvGrpSpPr>
          <p:cNvPr id="458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56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7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461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59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0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64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62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3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67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65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6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70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68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9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73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71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2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476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74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5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479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77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8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480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1" name="Freeform 36"/>
          <p:cNvSpPr/>
          <p:nvPr/>
        </p:nvSpPr>
        <p:spPr>
          <a:xfrm>
            <a:off x="17170670" y="-178579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82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483" name="image7.png" descr="image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05016" y="1801778"/>
            <a:ext cx="15054284" cy="71672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roup 5"/>
          <p:cNvGrpSpPr/>
          <p:nvPr/>
        </p:nvGrpSpPr>
        <p:grpSpPr>
          <a:xfrm>
            <a:off x="735587" y="7321525"/>
            <a:ext cx="992464" cy="992464"/>
            <a:chOff x="0" y="0"/>
            <a:chExt cx="992462" cy="992462"/>
          </a:xfrm>
        </p:grpSpPr>
        <p:sp>
          <p:nvSpPr>
            <p:cNvPr id="485" name="Freeform 6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86" name="TextBox 7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490" name="Group 8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88" name="Freeform 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89" name="TextBox 1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493" name="Group 11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91" name="Freeform 1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92" name="TextBox 1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96" name="Group 14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94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95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99" name="Group 17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97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98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502" name="Group 20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500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1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505" name="Group 23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503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4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508" name="Group 26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506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7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511" name="Group 29"/>
          <p:cNvGrpSpPr/>
          <p:nvPr/>
        </p:nvGrpSpPr>
        <p:grpSpPr>
          <a:xfrm>
            <a:off x="977740" y="6653893"/>
            <a:ext cx="508159" cy="543806"/>
            <a:chOff x="0" y="0"/>
            <a:chExt cx="508157" cy="543804"/>
          </a:xfrm>
        </p:grpSpPr>
        <p:sp>
          <p:nvSpPr>
            <p:cNvPr id="509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10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512" name="Freeform 32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3" name="Freeform 45"/>
          <p:cNvSpPr/>
          <p:nvPr/>
        </p:nvSpPr>
        <p:spPr>
          <a:xfrm>
            <a:off x="16786360" y="-353712"/>
            <a:ext cx="10994424" cy="10994424"/>
          </a:xfrm>
          <a:prstGeom prst="ellipse">
            <a:avLst/>
          </a:prstGeom>
          <a:ln w="619125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TextBox 1"/>
          <p:cNvSpPr txBox="1"/>
          <p:nvPr/>
        </p:nvSpPr>
        <p:spPr>
          <a:xfrm>
            <a:off x="236219" y="290492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ADVANTAGES &amp; LIMITATIONS</a:t>
            </a:r>
          </a:p>
        </p:txBody>
      </p:sp>
      <p:sp>
        <p:nvSpPr>
          <p:cNvPr id="515" name="Advantages:…"/>
          <p:cNvSpPr txBox="1"/>
          <p:nvPr/>
        </p:nvSpPr>
        <p:spPr>
          <a:xfrm>
            <a:off x="2904959" y="2568348"/>
            <a:ext cx="11748216" cy="426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Advantages: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Centralized inventory management</a:t>
            </a:r>
            <a:br/>
            <a:r>
              <a:t>➤ Real-time stock updates</a:t>
            </a:r>
            <a:br/>
            <a:r>
              <a:t>➤ Reduces human errors</a:t>
            </a:r>
            <a:br/>
            <a:r>
              <a:t>➤ Improves decision making</a:t>
            </a:r>
            <a:br/>
            <a:r>
              <a:t>➤ Saves time and cost</a:t>
            </a:r>
            <a:br/>
            <a:r>
              <a:t>➤ Secure data storage</a:t>
            </a:r>
          </a:p>
          <a:p>
            <a:pPr>
              <a:defRPr b="1"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Limitations: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Requires internet connection</a:t>
            </a:r>
            <a:br/>
            <a:r>
              <a:t>➤ Initial setup cost</a:t>
            </a:r>
            <a:br/>
            <a:r>
              <a:t>➤ Training required for staff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Freeform 32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TextBox 43"/>
          <p:cNvSpPr txBox="1"/>
          <p:nvPr/>
        </p:nvSpPr>
        <p:spPr>
          <a:xfrm>
            <a:off x="3200400" y="4486171"/>
            <a:ext cx="11159653" cy="1350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100"/>
              </a:lnSpc>
              <a:defRPr b="1" i="1" sz="1110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519" name="Freeform 45"/>
          <p:cNvSpPr/>
          <p:nvPr/>
        </p:nvSpPr>
        <p:spPr>
          <a:xfrm>
            <a:off x="16786360" y="-353712"/>
            <a:ext cx="10994424" cy="10994424"/>
          </a:xfrm>
          <a:prstGeom prst="ellipse">
            <a:avLst/>
          </a:prstGeom>
          <a:ln w="619125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